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75" d="100"/>
          <a:sy n="75" d="100"/>
        </p:scale>
        <p:origin x="81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JEVERSON TAVARES SAMPAIO" userId="3b1645ea-e25f-4285-894d-99db616a2821" providerId="ADAL" clId="{F03AF8CC-B26F-4517-811D-F778B3C210A9}"/>
    <pc:docChg chg="delSld delMainMaster">
      <pc:chgData name="UJEVERSON TAVARES SAMPAIO" userId="3b1645ea-e25f-4285-894d-99db616a2821" providerId="ADAL" clId="{F03AF8CC-B26F-4517-811D-F778B3C210A9}" dt="2026-03-18T01:15:34.722" v="0" actId="47"/>
      <pc:docMkLst>
        <pc:docMk/>
      </pc:docMkLst>
      <pc:sldChg chg="del">
        <pc:chgData name="UJEVERSON TAVARES SAMPAIO" userId="3b1645ea-e25f-4285-894d-99db616a2821" providerId="ADAL" clId="{F03AF8CC-B26F-4517-811D-F778B3C210A9}" dt="2026-03-18T01:15:34.722" v="0" actId="47"/>
        <pc:sldMkLst>
          <pc:docMk/>
          <pc:sldMk cId="157904225" sldId="282"/>
        </pc:sldMkLst>
      </pc:sldChg>
      <pc:sldMasterChg chg="del delSldLayout">
        <pc:chgData name="UJEVERSON TAVARES SAMPAIO" userId="3b1645ea-e25f-4285-894d-99db616a2821" providerId="ADAL" clId="{F03AF8CC-B26F-4517-811D-F778B3C210A9}" dt="2026-03-18T01:15:34.722" v="0" actId="47"/>
        <pc:sldMasterMkLst>
          <pc:docMk/>
          <pc:sldMasterMk cId="1636021913" sldId="2147483660"/>
        </pc:sldMasterMkLst>
        <pc:sldLayoutChg chg="del">
          <pc:chgData name="UJEVERSON TAVARES SAMPAIO" userId="3b1645ea-e25f-4285-894d-99db616a2821" providerId="ADAL" clId="{F03AF8CC-B26F-4517-811D-F778B3C210A9}" dt="2026-03-18T01:15:34.722" v="0" actId="47"/>
          <pc:sldLayoutMkLst>
            <pc:docMk/>
            <pc:sldMasterMk cId="1636021913" sldId="2147483660"/>
            <pc:sldLayoutMk cId="1000502286" sldId="2147483661"/>
          </pc:sldLayoutMkLst>
        </pc:sldLayoutChg>
        <pc:sldLayoutChg chg="del">
          <pc:chgData name="UJEVERSON TAVARES SAMPAIO" userId="3b1645ea-e25f-4285-894d-99db616a2821" providerId="ADAL" clId="{F03AF8CC-B26F-4517-811D-F778B3C210A9}" dt="2026-03-18T01:15:34.722" v="0" actId="47"/>
          <pc:sldLayoutMkLst>
            <pc:docMk/>
            <pc:sldMasterMk cId="1636021913" sldId="2147483660"/>
            <pc:sldLayoutMk cId="2513741728" sldId="2147483662"/>
          </pc:sldLayoutMkLst>
        </pc:sldLayoutChg>
        <pc:sldLayoutChg chg="del">
          <pc:chgData name="UJEVERSON TAVARES SAMPAIO" userId="3b1645ea-e25f-4285-894d-99db616a2821" providerId="ADAL" clId="{F03AF8CC-B26F-4517-811D-F778B3C210A9}" dt="2026-03-18T01:15:34.722" v="0" actId="47"/>
          <pc:sldLayoutMkLst>
            <pc:docMk/>
            <pc:sldMasterMk cId="1636021913" sldId="2147483660"/>
            <pc:sldLayoutMk cId="3792218062" sldId="2147483663"/>
          </pc:sldLayoutMkLst>
        </pc:sldLayoutChg>
        <pc:sldLayoutChg chg="del">
          <pc:chgData name="UJEVERSON TAVARES SAMPAIO" userId="3b1645ea-e25f-4285-894d-99db616a2821" providerId="ADAL" clId="{F03AF8CC-B26F-4517-811D-F778B3C210A9}" dt="2026-03-18T01:15:34.722" v="0" actId="47"/>
          <pc:sldLayoutMkLst>
            <pc:docMk/>
            <pc:sldMasterMk cId="1636021913" sldId="2147483660"/>
            <pc:sldLayoutMk cId="1010253605" sldId="2147483664"/>
          </pc:sldLayoutMkLst>
        </pc:sldLayoutChg>
        <pc:sldLayoutChg chg="del">
          <pc:chgData name="UJEVERSON TAVARES SAMPAIO" userId="3b1645ea-e25f-4285-894d-99db616a2821" providerId="ADAL" clId="{F03AF8CC-B26F-4517-811D-F778B3C210A9}" dt="2026-03-18T01:15:34.722" v="0" actId="47"/>
          <pc:sldLayoutMkLst>
            <pc:docMk/>
            <pc:sldMasterMk cId="1636021913" sldId="2147483660"/>
            <pc:sldLayoutMk cId="3331785395" sldId="2147483665"/>
          </pc:sldLayoutMkLst>
        </pc:sldLayoutChg>
        <pc:sldLayoutChg chg="del">
          <pc:chgData name="UJEVERSON TAVARES SAMPAIO" userId="3b1645ea-e25f-4285-894d-99db616a2821" providerId="ADAL" clId="{F03AF8CC-B26F-4517-811D-F778B3C210A9}" dt="2026-03-18T01:15:34.722" v="0" actId="47"/>
          <pc:sldLayoutMkLst>
            <pc:docMk/>
            <pc:sldMasterMk cId="1636021913" sldId="2147483660"/>
            <pc:sldLayoutMk cId="306571189" sldId="2147483666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B8503-02FD-4ED4-B302-8B56F38888EE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BC9890-F0CD-4BE5-B860-658134756E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6055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ORIENTAÇÕES GERAIS:</a:t>
            </a:r>
          </a:p>
          <a:p>
            <a:r>
              <a:t>- Habilidade BNCC EF09MA19: resolver e elaborar problemas que envolvam medidas de volumes de prismas retos.</a:t>
            </a:r>
          </a:p>
          <a:p>
            <a:r>
              <a:t>- 4 blocos de 30 minutos (120 min).</a:t>
            </a:r>
          </a:p>
          <a:p>
            <a:r>
              <a:t>- Recursos: projetor, régua, calculadora e, se houver, modelos de sólidos.</a:t>
            </a:r>
          </a:p>
          <a:p>
            <a:r>
              <a:t>- Cada aula tem exposição, exemplo resolvido e atividade; as soluções das cinco atividades estão nas anotações dos respectivos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a jornada de 4 aulas. Cada aula termina com uma atividade; as soluções ficam nas anotações.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Pergunte: que objetos da sala ou de casa lembram prismas? (caixas, lápis sextavados, telhados).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Diferencie prisma de pirâmide: a pirâmide tem uma só base e um vértice; o prisma tem duas bases idênticas e paralelas.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prisma reto, a aresta lateral mede o mesmo que a altura h. O número de faces laterais é sempre igual ao número de lados da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GIF girar e peça que os alunos apontem as bases e as faces laterais.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 as peças separadas, os alunos contam faces, e a relação de Euler fica mais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base de n lados: F = n + 2, V = 2n e A = 3n. Então V − A + F = 2n − 3n + n + 2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Relacione com logística industrial: caixas prismáticas aproveitam toda a área do pallet.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— ATIVIDADE 1:</a:t>
            </a:r>
          </a:p>
          <a:p>
            <a:r>
              <a:t>a) 2 bases (octógonos) e 8 faces laterais retangulares.</a:t>
            </a:r>
          </a:p>
          <a:p>
            <a:r>
              <a:t>b) F = 8 + 2 = 10; V = 8 + 8 = 16; A = 8 + 8 + 8 = 24.</a:t>
            </a:r>
          </a:p>
          <a:p>
            <a:r>
              <a:t>c) V − A + F = 16 − 24 + 10 = 2. Confirmado.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calcular o material necessário para fabricar ou revestir um prisma.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planificação é a base do corte industrial de papelão e chapas. Al = (perímetro da base) ×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como a lateral vira um retângulo e onde entram as duas 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2·Ab? O prisma tem duas bases (tampa e fundo). Caixa aberta: usa-se apenas 1·Ab.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Método alternativo: At = 2(ab + ac + bc) = 2(600 + 360 + 240) = 2.400 cm². Ambos chegam ao mesmo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cubo é o prisma mais simétrico: todas as faces são congruentes.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— ATIVIDADE 2:</a:t>
            </a:r>
          </a:p>
          <a:p>
            <a:r>
              <a:t>Ab = 10² = 100 cm²; 2p = 4 × 10 = 40 cm.</a:t>
            </a:r>
          </a:p>
          <a:p>
            <a:r>
              <a:t>Al = 40 × 25 = 1.000 cm².</a:t>
            </a:r>
          </a:p>
          <a:p>
            <a:r>
              <a:t>At = 1.000 + 2·100 = 1.200 cm².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— ATIVIDADE 3:</a:t>
            </a:r>
          </a:p>
          <a:p>
            <a:r>
              <a:t>At = 2(25·15 + 25·8 + 15·8) = 2(375 + 200 + 120) = 1.390 cm².</a:t>
            </a:r>
          </a:p>
          <a:p>
            <a:r>
              <a:t>Acréscimo: 1.390 × 0,15 = 208,5 cm².</a:t>
            </a:r>
          </a:p>
          <a:p>
            <a:r>
              <a:t>Total: 1.390 + 208,5 = 1.598,5 cm².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Foco: volume como espaço ocupado e a ligação entre unidades cúbicas e litros.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Princípio de Cavalieri: mesma altura e seções de áreas iguais levam ao mesmo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com empilhar folhas de papel: cada folha acrescenta uma camada de área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Todas as medidas devem estar na MESMA unidade antes de multiplicar.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 clássico: 1 m³ NÃO é 100 L. 1 m = 10 dm → 1 m³ = (10 dm)³ = 1.000 dm³ = 1.000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 decímetros: 20 × 15 × 12 = 3.600 dm³ = 3.600 L — resposta direta em litros.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Diferencie a altura do triângulo (h_tri) da altura do prisma (comprimento da peça).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— ATIVIDADE 4:</a:t>
            </a:r>
          </a:p>
          <a:p>
            <a:r>
              <a:t>V = 60 × 40 × 45 = 108.000 cm³.</a:t>
            </a:r>
          </a:p>
          <a:p>
            <a:r>
              <a:t>108.000 ÷ 1.000 = 108 litros.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imagem para discutir por que o nível da água, e não a borda, define o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alunos integram área e volume e decidem qual cálculo cada problema exige.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Quadro de fixação para evitar confusão em avaliações.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indústria otimiza a relação área/volume para economizar material e transportar mais produto.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— ATIVIDADE 5:</a:t>
            </a:r>
          </a:p>
          <a:p>
            <a:r>
              <a:t>Ab = (2,0 × 1,5) / 2 = 1,5 m².</a:t>
            </a:r>
          </a:p>
          <a:p>
            <a:r>
              <a:t>V = 1,5 × 3,0 = 4,5 m³.</a:t>
            </a:r>
          </a:p>
          <a:p>
            <a:r>
              <a:t>Em litros: 4,5 × 1.000 = 4.500 L de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Tabela de consulta rápida para estudo e avaliações.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Encerre parabenizando a turma e indique a lista complementar de exercícios.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2D5BF-9160-4B29-8DB3-0B5FE251C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48" y="1325880"/>
            <a:ext cx="9144000" cy="224028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2ADABB6-94C1-AEDC-B294-3F78F2AB4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794760"/>
            <a:ext cx="9144000" cy="13716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676B15-6576-6FD7-0C2E-54CE9DB42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33C9C94-F658-6E14-6F89-89AC2A31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6502386-E531-B290-EC44-53EAB83B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  <p:pic>
        <p:nvPicPr>
          <p:cNvPr id="99" name="Rodape Fatesg">
            <a:extLst>
              <a:ext uri="{FF2B5EF4-FFF2-40B4-BE49-F238E27FC236}">
                <a16:creationId xmlns:a16="http://schemas.microsoft.com/office/drawing/2014/main" id="{3458AEEF-128F-E37F-18D7-5EF474421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242" y="6238875"/>
            <a:ext cx="7459515" cy="61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370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3CA4E1-6F7D-5D34-151D-C01D99BD7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60120"/>
            <a:ext cx="10515600" cy="82296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1FD3BE-B227-8FCB-53F3-59916EAFD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74519"/>
            <a:ext cx="10515600" cy="43434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682476D-13B0-ADE6-1737-0A373E742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23D8AFE-59BE-757B-E1B4-DB5F57874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03C832-5218-EFDA-E274-FDCA0700A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361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A85DAE-0295-79AD-9370-801140150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196BD4B-C941-485C-0969-6E6E90B56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4269AAB-F1F7-7F63-C426-7375E0117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0E85C4-254D-0AAA-2BF1-2092BAF53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FA0837-EA37-21A8-5C2C-58FA398A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0060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8676F2-AB22-42D8-EE1C-4855BC64F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60120"/>
            <a:ext cx="10515600" cy="82296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C1EF80-2C8A-1BEE-A358-10BC569B03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1248" y="1874519"/>
            <a:ext cx="5184648" cy="43434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08A7378-FE0B-9AE2-F1DA-739FDC7CC9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74519"/>
            <a:ext cx="5184648" cy="43434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856DA3-B64F-89E2-5B8D-FFED01F5B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C8BB335-7FB9-CF5D-EA5E-08DDC1660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5AC272B-0A5C-4D26-F847-A111078B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0074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4AF056-9C67-B67A-7EDD-57DF1C058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60120"/>
            <a:ext cx="10515600" cy="82296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84E919-F693-E23B-08D8-06FBE6685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1874519"/>
            <a:ext cx="5157216" cy="54864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71569BE-32B6-2F72-6D61-2559E7D3C9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1248" y="2468880"/>
            <a:ext cx="5157216" cy="37490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5460181-19DB-FA49-9398-EE9915D90B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74519"/>
            <a:ext cx="5184648" cy="54864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369D61-69CA-2F18-9DFD-399B5F1BE9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68880"/>
            <a:ext cx="5184648" cy="37490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78BA526-387D-1CD1-3324-11A654603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8EE9128-B089-0D3F-3E76-6986DA71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E707327-E3D5-B47B-94CE-075603CFA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633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4FB74-920B-A751-F3A7-B0A25A1D4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60120"/>
            <a:ext cx="10515600" cy="82296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A0589D6-1C4E-F5F3-42FA-D1C286E6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F4A6C51-C45E-CE3F-073A-CCAAABC94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B4B2605-765C-CB1F-B907-257881441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3539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028A5E3-A863-F93D-F46E-D7DA99185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7E0909A-2D89-49CE-16B7-FDEF5965F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39404D-35AE-A783-7ECA-B50019C68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7601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550941-EEAF-F623-A341-B4101B795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1051560"/>
            <a:ext cx="3931920" cy="109728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445C44-735A-BE4B-3D6D-2108A5358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4648" y="1051560"/>
            <a:ext cx="6172200" cy="51663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C3E95D5-4AE6-3DB1-93A5-4B4DFECFB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8" y="2240280"/>
            <a:ext cx="3931920" cy="397763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030DB8-CB8D-95E5-B3EE-9ACAD8C8C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D1B804-5C55-A72D-94E1-80FBD932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54597DC-EE0D-DDCA-859D-2D50A3900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16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8593B-92C6-AAB2-086C-E906F2780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1051560"/>
            <a:ext cx="3931920" cy="109728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52FC6D9-BBA7-734B-5A70-8F23A58075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4648" y="1051560"/>
            <a:ext cx="6172200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B0966C0-8E89-0024-21A1-4251E2772A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8" y="2240280"/>
            <a:ext cx="3931920" cy="397763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45B1467-26E9-01B2-ED7F-E57AEA7EF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0DB0FE0-8C8C-88D7-AC80-FC1E958E0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E2DC404-A6F9-FEE7-948F-27AFD8F60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63238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67063B-1EAF-45E4-5941-A9AB633B6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60120"/>
            <a:ext cx="10515600" cy="822960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B5C9B21-7BEA-42AD-AB55-BA3FBCA2D2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41248" y="1874519"/>
            <a:ext cx="10515600" cy="43434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5055012-84D0-2070-77EB-EACB66F5F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A2D62E-08D4-4966-B6AD-FE0B2BC29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BF4A9B-D3C4-477E-8A30-86EB84896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0329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03367F-ECC8-2958-DB6D-29217CFD2D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76" y="1005840"/>
            <a:ext cx="2633472" cy="52120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68C8D60-2756-5E8D-4EF0-BFFA20961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41248" y="1005840"/>
            <a:ext cx="7735824" cy="52120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4BF400-A14F-B8DC-78D0-DF6A96A03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616397-0B3E-2911-7340-48A0653F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43D648-336E-5E66-B89C-B72B05D2C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22012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5000" t="2000" r="4000" b="8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78E0650-771E-1E54-E445-9F337D637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60120"/>
            <a:ext cx="10515600" cy="822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54F0239-AA49-F6D2-DD7A-0DD7B61E2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1874519"/>
            <a:ext cx="105156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76FBC9-8923-C3D7-9404-773C4D030D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54D88C-6ABD-4C5E-AB83-2C4E1D6885DD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8A1A09C-72E7-EE24-AB15-66958ACF29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51E71A1-FE19-C152-AF28-2A4F2FE6A2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4E5E67-C5D6-48C5-8540-6770CF63DB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8658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gif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74519"/>
            <a:ext cx="10360152" cy="1554480"/>
          </a:xfrm>
        </p:spPr>
        <p:txBody>
          <a:bodyPr wrap="square" anchor="ctr"/>
          <a:lstStyle/>
          <a:p>
            <a:pPr algn="ctr"/>
            <a:r>
              <a:rPr sz="3600" b="0">
                <a:solidFill>
                  <a:srgbClr val="1A1A1A"/>
                </a:solidFill>
                <a:latin typeface="Poppins"/>
                <a:ea typeface="Poppins"/>
                <a:cs typeface="Poppins"/>
              </a:rPr>
              <a:t>Prismas: Área e Volume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20440"/>
            <a:ext cx="10360152" cy="868680"/>
          </a:xfrm>
        </p:spPr>
        <p:txBody>
          <a:bodyPr wrap="square" anchor="t"/>
          <a:lstStyle/>
          <a:p>
            <a:pPr algn="ctr" marL="0" indent="0">
              <a:buNone/>
            </a:pPr>
            <a:r>
              <a:rPr sz="2000" b="0" i="0">
                <a:solidFill>
                  <a:srgbClr val="575656"/>
                </a:solidFill>
                <a:latin typeface="Poppins"/>
                <a:ea typeface="Poppins"/>
                <a:cs typeface="Poppins"/>
              </a:rPr>
              <a:t>Geometria Espacial • 4 aulas de 30 minutos</a:t>
            </a:r>
          </a:p>
          <a:p>
            <a:pPr algn="ctr" marL="0" indent="0">
              <a:buNone/>
            </a:pPr>
            <a:r>
              <a:rPr sz="2000" b="0" i="0">
                <a:solidFill>
                  <a:srgbClr val="575656"/>
                </a:solidFill>
                <a:latin typeface="Poppins"/>
                <a:ea typeface="Poppins"/>
                <a:cs typeface="Poppins"/>
              </a:rPr>
              <a:t>Matemática — 9º Ano do Ensino Fundamental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26280"/>
            <a:ext cx="112745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0" i="0">
                <a:solidFill>
                  <a:srgbClr val="1A1A1A"/>
                </a:solidFill>
                <a:latin typeface="Poppins"/>
                <a:ea typeface="Poppins"/>
                <a:cs typeface="Poppins"/>
              </a:rPr>
              <a:t>PROF. MSC. UJEVERSON TAVARES</a:t>
            </a:r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Cronograma das Quatro Aulas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94944" y="169164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4041648"/>
                <a:gridCol w="4663440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Aula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Tópico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Foco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• 30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O que é um prisma?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Elementos e relação de Euler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 • 30 min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Áreas da superfície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Planificação, Al e At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3 • 30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Volume e capacidade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V = Ab · h e litros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4 • 30 min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Aplicações e síntese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Problemas integrados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0E4194"/>
                </a:solidFill>
                <a:latin typeface="Montserrat"/>
                <a:ea typeface="Montserrat"/>
                <a:cs typeface="Montserrat"/>
              </a:rPr>
              <a:t>Aula 1: O que é um Prisma?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0" i="0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Definição, elementos e classificação (30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526280"/>
            <a:ext cx="1371600" cy="54864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Definição Geométrica de Prisma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10881360" cy="117348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228600"/>
          <a:lstStyle/>
          <a:p>
            <a:pPr algn="l"/>
            <a:r>
              <a:rPr sz="2400" b="1" i="0">
                <a:solidFill>
                  <a:srgbClr val="0E4194"/>
                </a:solidFill>
                <a:latin typeface="Calibri"/>
                <a:ea typeface="Calibri"/>
                <a:cs typeface="Calibri"/>
              </a:rPr>
              <a:t>Prisma é um poliedro com duas bases poligonais paralelas e congruentes; suas faces laterais são paralelogramos.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691640"/>
            <a:ext cx="109728" cy="1173480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3048000"/>
            <a:ext cx="10972800" cy="316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Altura (h): distância perpendicular entre as bases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Prisma reto: faces laterais retangulares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No 9º ano, o foco são os prismas retos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Elementos Fundamentais do Prisma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Bases: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dois polígonos congruentes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Faces laterais: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retângulos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Arestas: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da base e laterais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Vértices: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pontos de encontro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Altura (h):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entre as bases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01149"/>
            <a:ext cx="4389120" cy="31586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5287202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Figura: autoria própria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Rotação 3D do Prisma Regular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Duas bases idênticas e paralelas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Faces laterais retangulares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O giro ajuda a ver a forma em 3D</a:t>
            </a:r>
          </a:p>
        </p:txBody>
      </p:sp>
      <p:pic>
        <p:nvPicPr>
          <p:cNvPr id="4" name="Picture 3" descr="blender_prisma_hex_loo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034540"/>
            <a:ext cx="438912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5353812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Blender • uaippt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Vista Explodida do Prisma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Bases em laranja: 2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Faces laterais em azul: n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Total de faces: F = n + 2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708708"/>
            <a:ext cx="4389120" cy="394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5679644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Blender • uaippt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Classificação e Relação de Euler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94944" y="169164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3108960"/>
                <a:gridCol w="1036320"/>
                <a:gridCol w="1036320"/>
                <a:gridCol w="1036320"/>
                <a:gridCol w="2072640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Base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Prisma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 − A + F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Triângulo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Triangular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Quadrilátero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Quadrangular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Pentágono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Pentagonal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Hexágono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Hexagonal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Prismas no Cotidiano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Onde estão?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Caixas de sapato e de leite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Chocolate triangular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Lápis sextavado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Galpões industriais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Por que são usados?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Empilham sem deixar vãos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Economizam espaço no transporte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São fáceis de montar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Estruturas estáveis</a:t>
            </a:r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Atividade 1 • Elementos do Prisma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10881360" cy="117348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228600"/>
          <a:lstStyle/>
          <a:p>
            <a:pPr algn="l"/>
            <a:r>
              <a:rPr sz="2400" b="1" i="0">
                <a:solidFill>
                  <a:srgbClr val="0E4194"/>
                </a:solidFill>
                <a:latin typeface="Calibri"/>
                <a:ea typeface="Calibri"/>
                <a:cs typeface="Calibri"/>
              </a:rPr>
              <a:t>Uma fábrica de biscoitos criou uma embalagem em forma de prisma octogonal reto (base com 8 lados).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691640"/>
            <a:ext cx="109728" cy="1173480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3048000"/>
            <a:ext cx="10972800" cy="316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a) Quantas bases e quantas faces laterais?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b) Quantos faces, vértices e arestas no total?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c) Verifique a relação de Euler (V − A + F = 2).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0E4194"/>
                </a:solidFill>
                <a:latin typeface="Montserrat"/>
                <a:ea typeface="Montserrat"/>
                <a:cs typeface="Montserrat"/>
              </a:rPr>
              <a:t>Aula 2: Áreas da Superfície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0" i="0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Planificação, área lateral e área total (30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526280"/>
            <a:ext cx="1371600" cy="54864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Planificação de um Prisma Reto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Planificar é abrir o sólido no plano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As faces laterais formam um retângulo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Base do retângulo = perímetro (2p)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Altura do retângulo = h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As duas bases completam a superfície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036" y="1645920"/>
            <a:ext cx="4310648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3035" y="5742432"/>
            <a:ext cx="4310648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Figura: autoria própria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Planificação Geométrica (Manim)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Três faces laterais em faixa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Cotas: altura h e perímetro 2p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Duas bases nas abas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At = Al + 2·Ab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39254"/>
            <a:ext cx="4389120" cy="30824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5249098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Manim • uaippt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Fórmulas das Áreas da Superfície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109728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Área da base (Ab):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área do polígono da base</a:t>
            </a:r>
          </a:p>
          <a:p>
            <a:pPr algn="l" marL="640080" indent="-274320">
              <a:lnSpc>
                <a:spcPct val="100000"/>
              </a:lnSpc>
              <a:spcAft>
                <a:spcPts val="600"/>
              </a:spcAft>
              <a:buFont typeface="Arial"/>
              <a:buChar char="–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Quadrado: l² • retângulo: b·h • triângulo: b·h/2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Área lateral (Al):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Al = (perímetro da base) × h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Área total (At):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At = Al + 2 · Ab</a:t>
            </a:r>
          </a:p>
        </p:txBody>
      </p:sp>
      <p:pic>
        <p:nvPicPr>
          <p:cNvPr id="4" name="Picture 3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Exemplo Resolvido 1: Caixa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Problema: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Caixa de sapato de 30 cm × 20 cm × 12 cm.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Calcule a área total de papelão.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Resolução: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Ab = 30 × 20 = 600 cm²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2p = 2·(30 + 20) = 100 cm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Al = 100 × 12 = 1.200 cm²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At = 1.200 + 2·600 = </a:t>
            </a: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2.400 cm²</a:t>
            </a:r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Exemplo Resolvido 2: O Cubo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5257800" cy="502920"/>
          </a:xfrm>
          <a:prstGeom prst="rect">
            <a:avLst/>
          </a:prstGeom>
          <a:solidFill>
            <a:srgbClr val="0E41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Conceito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53492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6 faces quadradas iguais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Área de uma face = a²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At = 6a²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79" y="1691640"/>
            <a:ext cx="5257800" cy="502920"/>
          </a:xfrm>
          <a:prstGeom prst="rect">
            <a:avLst/>
          </a:prstGeom>
          <a:solidFill>
            <a:srgbClr val="0E41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Aplicação (a = 5 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53492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1 face: 5² = 25 cm²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Lateral (4 faces): 100 cm²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Total (6 faces): </a:t>
            </a: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150 cm²</a:t>
            </a:r>
          </a:p>
        </p:txBody>
      </p:sp>
      <p:pic>
        <p:nvPicPr>
          <p:cNvPr id="7" name="Picture 6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Atividade 2 • Luminária Prismática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10881360" cy="117348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228600"/>
          <a:lstStyle/>
          <a:p>
            <a:pPr algn="l"/>
            <a:r>
              <a:rPr sz="2400" b="1" i="0">
                <a:solidFill>
                  <a:srgbClr val="0E4194"/>
                </a:solidFill>
                <a:latin typeface="Calibri"/>
                <a:ea typeface="Calibri"/>
                <a:cs typeface="Calibri"/>
              </a:rPr>
              <a:t>Uma luminária em forma de prisma reto de base quadrada tem aresta da base de 10 cm e altura de 25 cm.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691640"/>
            <a:ext cx="109728" cy="1173480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3048000"/>
            <a:ext cx="10972800" cy="316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Calcule a área lateral.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Calcule a área total.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Atividade 3 • Embalagem de Presente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10881360" cy="117348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228600"/>
          <a:lstStyle/>
          <a:p>
            <a:pPr algn="l"/>
            <a:r>
              <a:rPr sz="2400" b="1" i="0">
                <a:solidFill>
                  <a:srgbClr val="0E4194"/>
                </a:solidFill>
                <a:latin typeface="Calibri"/>
                <a:ea typeface="Calibri"/>
                <a:cs typeface="Calibri"/>
              </a:rPr>
              <a:t>Juliana vai encapar uma caixa de 25 cm × 15 cm × 8 cm. O papel deve ter 15% a mais para dobras e emendas.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691640"/>
            <a:ext cx="109728" cy="1173480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3048000"/>
            <a:ext cx="10972800" cy="316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Qual é a área mínima de papel necessária?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0E4194"/>
                </a:solidFill>
                <a:latin typeface="Montserrat"/>
                <a:ea typeface="Montserrat"/>
                <a:cs typeface="Montserrat"/>
              </a:rPr>
              <a:t>Aula 3: Volume e Capacidade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0" i="0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Cálculo de volume e relação com litros (30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526280"/>
            <a:ext cx="1371600" cy="54864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O Princípio do Cálculo de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Volume é o espaço ocupado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Empilhe fatias de área Ab até a altura h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 = Ab · h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1 m³ = 1.000 L • 1 dm³ = 1 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389032"/>
            <a:ext cx="4389120" cy="2582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4999320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Figura: autoria própria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Volume por Extrusão (Manim)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Base com área Ab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Camadas empilhadas até h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Volume = Ab × 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202221"/>
            <a:ext cx="4389120" cy="29564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5186131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Manim • uaippt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Volume de Blocos Retangulares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Paralelepípedo: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V = c · l · h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Cubo de aresta a:</a:t>
            </a: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V = a³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Use a mesma unidade nas três medidas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605524"/>
            <a:ext cx="4389120" cy="21498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4782827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Figura: autoria própria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Volume x Capacidade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94944" y="1691640"/>
          <a:ext cx="108813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754"/>
                <a:gridCol w="3001754"/>
                <a:gridCol w="4877851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Volume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Capacidade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Exemplo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m³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1.000 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Caixa d'água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dm³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L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Caixa de leite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cm³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Seringa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1.000 cm³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1 L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Garrafa de água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Exemplo Resolvido 3: Caixa d'Água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Problema: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Caixa de 2,0 m × 1,5 m × 1,2 m.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Quantos litros ela comporta?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Resolução: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 = 2,0 × 1,5 × 1,2 = 3,6 m³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1 m³ = 1.000 L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Capacidade = </a:t>
            </a: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3.600 L</a:t>
            </a:r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Volume do Prisma Triangular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Base: triângulo (b e h_tri)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Ab = b · h_tri / 2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 = Ab · h_prisma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Comum em telhados e rampas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462" y="1645920"/>
            <a:ext cx="3467796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4462" y="5742432"/>
            <a:ext cx="3467796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Figura: autoria própria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Atividade 4 • Aquário da Escola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10881360" cy="117348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228600"/>
          <a:lstStyle/>
          <a:p>
            <a:pPr algn="l"/>
            <a:r>
              <a:rPr sz="2400" b="1" i="0">
                <a:solidFill>
                  <a:srgbClr val="0E4194"/>
                </a:solidFill>
                <a:latin typeface="Calibri"/>
                <a:ea typeface="Calibri"/>
                <a:cs typeface="Calibri"/>
              </a:rPr>
              <a:t>Um aquário de 60 cm × 40 cm × 50 cm está com água até 45 cm de altura.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691640"/>
            <a:ext cx="109728" cy="1173480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3048000"/>
            <a:ext cx="10972800" cy="316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Quantos litros de água há no aquário?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Dica: use a altura da água, não a do aquário.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Reservatório 3D e Nível da Água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662940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Só a altura da água conta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Altura da água: 45 cm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60 × 40 × 45 cm³ = 108 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731860"/>
            <a:ext cx="4389120" cy="3897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5656491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200" b="0" i="1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Blender • uaippt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0E4194"/>
                </a:solidFill>
                <a:latin typeface="Montserrat"/>
                <a:ea typeface="Montserrat"/>
                <a:cs typeface="Montserrat"/>
              </a:rPr>
              <a:t>Aula 4: Aplicações e Desafios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0" i="0">
                <a:solidFill>
                  <a:srgbClr val="575656"/>
                </a:solidFill>
                <a:latin typeface="Calibri"/>
                <a:ea typeface="Calibri"/>
                <a:cs typeface="Calibri"/>
              </a:rPr>
              <a:t>Problemas integrados e síntese (30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526280"/>
            <a:ext cx="1371600" cy="54864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Área versus Volume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5257800" cy="502920"/>
          </a:xfrm>
          <a:prstGeom prst="rect">
            <a:avLst/>
          </a:prstGeom>
          <a:solidFill>
            <a:srgbClr val="0E41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Área (superfície)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53492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Mede a casca externa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Unidades: cm², 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Pintura, papelão, azulejo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At = Al + 2·Ab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79" y="1691640"/>
            <a:ext cx="5257800" cy="502920"/>
          </a:xfrm>
          <a:prstGeom prst="rect">
            <a:avLst/>
          </a:prstGeom>
          <a:solidFill>
            <a:srgbClr val="0E41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Volume (capacidade)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53492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Mede o espaço interno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Unidades: cm³, m³, L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Água, concreto, ar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V = Ab · h</a:t>
            </a:r>
          </a:p>
        </p:txBody>
      </p:sp>
      <p:pic>
        <p:nvPicPr>
          <p:cNvPr id="7" name="Picture 6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Exemplo Resolvido 4: Embalagem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Dados: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Prisma de base quadrada, aresta 7 cm e altura 20 cm.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a) Volume em mL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b) Papelão gasto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691640"/>
            <a:ext cx="534924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Resolução: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Ab = 7 × 7 = 49 cm²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a) V = 49 × 20 = 980 cm³ = </a:t>
            </a: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980 mL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b) Al = 28 × 20 = 560 cm²</a:t>
            </a:r>
          </a:p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At = 560 + 98 = </a:t>
            </a:r>
            <a:r>
              <a:rPr sz="2400" b="1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658 cm²</a:t>
            </a:r>
          </a:p>
        </p:txBody>
      </p:sp>
      <p:pic>
        <p:nvPicPr>
          <p:cNvPr id="5" name="Picture 4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Atividade 5 • A Tenda de Camping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94944" y="1691640"/>
            <a:ext cx="10881360" cy="117348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228600"/>
          <a:lstStyle/>
          <a:p>
            <a:pPr algn="l"/>
            <a:r>
              <a:rPr sz="2400" b="1" i="0">
                <a:solidFill>
                  <a:srgbClr val="0E4194"/>
                </a:solidFill>
                <a:latin typeface="Calibri"/>
                <a:ea typeface="Calibri"/>
                <a:cs typeface="Calibri"/>
              </a:rPr>
              <a:t>Uma tenda é um prisma triangular reto de 3,0 m de comprimento; a frente é um triângulo isósceles de base 2,0 m e altura 1,5 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691640"/>
            <a:ext cx="109728" cy="1173480"/>
          </a:xfrm>
          <a:prstGeom prst="rect">
            <a:avLst/>
          </a:prstGeom>
          <a:solidFill>
            <a:srgbClr val="E84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3048000"/>
            <a:ext cx="10972800" cy="316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2004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Calcule o volume de ar no interior da tenda.</a:t>
            </a:r>
          </a:p>
        </p:txBody>
      </p:sp>
      <p:pic>
        <p:nvPicPr>
          <p:cNvPr id="6" name="Picture 5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896112"/>
            <a:ext cx="10972800" cy="713232"/>
          </a:xfrm>
        </p:spPr>
        <p:txBody>
          <a:bodyPr wrap="square" anchor="ctr"/>
          <a:lstStyle/>
          <a:p>
            <a:pPr algn="l"/>
            <a:r>
              <a:rPr sz="3600" b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Quadro Resumo de Fórmulas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94944" y="1691640"/>
          <a:ext cx="10881358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5513"/>
                <a:gridCol w="2128961"/>
                <a:gridCol w="2128961"/>
                <a:gridCol w="2365513"/>
                <a:gridCol w="1892410"/>
              </a:tblGrid>
              <a:tr h="64008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Prisma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Ab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Al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At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</a:t>
                      </a:r>
                    </a:p>
                  </a:txBody>
                  <a:tcPr anchor="ctr">
                    <a:solidFill>
                      <a:srgbClr val="0E419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Reto geral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área da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2p · 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Al + 2Ab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Ab · 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Paralelepípedo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 · b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2(ac + bc)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2(ab+ac+bc)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 · b · c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Cubo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4a²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6a²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Triangular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b·h_tri/2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2p · h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Al + 2Ab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Calibri"/>
                          <a:ea typeface="Calibri"/>
                          <a:cs typeface="Calibri"/>
                        </a:rPr>
                        <a:t>Ab · h</a:t>
                      </a:r>
                    </a:p>
                  </a:txBody>
                  <a:tcPr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011680"/>
            <a:ext cx="10360152" cy="1371600"/>
          </a:xfrm>
        </p:spPr>
        <p:txBody>
          <a:bodyPr wrap="square" anchor="ctr"/>
          <a:lstStyle/>
          <a:p>
            <a:pPr algn="ctr"/>
            <a:r>
              <a:rPr sz="3600" b="1">
                <a:solidFill>
                  <a:srgbClr val="0E4194"/>
                </a:solidFill>
                <a:latin typeface="Montserrat"/>
                <a:ea typeface="Montserrat"/>
                <a:cs typeface="Montserrat"/>
              </a:rPr>
              <a:t>Parabéns!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20440"/>
            <a:ext cx="10360152" cy="868680"/>
          </a:xfrm>
        </p:spPr>
        <p:txBody>
          <a:bodyPr wrap="square" anchor="t"/>
          <a:lstStyle/>
          <a:p>
            <a:pPr algn="ctr" marL="0" indent="0">
              <a:buNone/>
            </a:pPr>
            <a:r>
              <a:rPr sz="24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Prismas: área e volume concluído</a:t>
            </a:r>
          </a:p>
        </p:txBody>
      </p:sp>
      <p:pic>
        <p:nvPicPr>
          <p:cNvPr id="4" name="Picture 3" descr="instagra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646480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" y="6437376"/>
            <a:ext cx="2194560" cy="292608"/>
          </a:xfrm>
          <a:prstGeom prst="rect">
            <a:avLst/>
          </a:prstGeom>
          <a:noFill/>
        </p:spPr>
        <p:txBody>
          <a:bodyPr wrap="none" lIns="18288" tIns="18288" bIns="18288" anchor="ctr">
            <a:spAutoFit/>
          </a:bodyPr>
          <a:lstStyle/>
          <a:p>
            <a:r>
              <a:rPr sz="1100" b="0" i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@prof.ujeverson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SENAI">
      <a:dk1>
        <a:sysClr val="windowText" lastClr="000000"/>
      </a:dk1>
      <a:lt1>
        <a:sysClr val="window" lastClr="FFFFFF"/>
      </a:lt1>
      <a:dk2>
        <a:srgbClr val="0E4194"/>
      </a:dk2>
      <a:lt2>
        <a:srgbClr val="E8EEF7"/>
      </a:lt2>
      <a:accent1>
        <a:srgbClr val="0E4194"/>
      </a:accent1>
      <a:accent2>
        <a:srgbClr val="E8490F"/>
      </a:accent2>
      <a:accent3>
        <a:srgbClr val="074982"/>
      </a:accent3>
      <a:accent4>
        <a:srgbClr val="4FB3D9"/>
      </a:accent4>
      <a:accent5>
        <a:srgbClr val="575656"/>
      </a:accent5>
      <a:accent6>
        <a:srgbClr val="2E8B57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UJEVERSON TAVARES SAMPAIO</dc:creator>
  <cp:lastModifiedBy>Ujeverson Tavares Sampaio</cp:lastModifiedBy>
  <cp:revision>2</cp:revision>
  <dcterms:created xsi:type="dcterms:W3CDTF">2025-02-03T00:31:06Z</dcterms:created>
  <dcterms:modified xsi:type="dcterms:W3CDTF">2026-03-18T01:15:36Z</dcterms:modified>
</cp:coreProperties>
</file>