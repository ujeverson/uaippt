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EVERSON TAVARES SAMPAIO" userId="3b1645ea-e25f-4285-894d-99db616a2821" providerId="ADAL" clId="{F03AF8CC-B26F-4517-811D-F778B3C210A9}"/>
    <pc:docChg chg="delSld delMainMaster">
      <pc:chgData name="UJEVERSON TAVARES SAMPAIO" userId="3b1645ea-e25f-4285-894d-99db616a2821" providerId="ADAL" clId="{F03AF8CC-B26F-4517-811D-F778B3C210A9}" dt="2026-03-18T01:15:34.722" v="0" actId="47"/>
      <pc:docMkLst>
        <pc:docMk/>
      </pc:docMkLst>
      <pc:sldChg chg="del">
        <pc:chgData name="UJEVERSON TAVARES SAMPAIO" userId="3b1645ea-e25f-4285-894d-99db616a2821" providerId="ADAL" clId="{F03AF8CC-B26F-4517-811D-F778B3C210A9}" dt="2026-03-18T01:15:34.722" v="0" actId="47"/>
        <pc:sldMkLst>
          <pc:docMk/>
          <pc:sldMk cId="157904225" sldId="282"/>
        </pc:sldMkLst>
      </pc:sldChg>
      <pc:sldMasterChg chg="del delSldLayout">
        <pc:chgData name="UJEVERSON TAVARES SAMPAIO" userId="3b1645ea-e25f-4285-894d-99db616a2821" providerId="ADAL" clId="{F03AF8CC-B26F-4517-811D-F778B3C210A9}" dt="2026-03-18T01:15:34.722" v="0" actId="47"/>
        <pc:sldMasterMkLst>
          <pc:docMk/>
          <pc:sldMasterMk cId="1636021913" sldId="2147483660"/>
        </pc:sldMasterMkLst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00502286" sldId="2147483661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2513741728" sldId="2147483662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792218062" sldId="2147483663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10253605" sldId="2147483664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331785395" sldId="2147483665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06571189" sldId="2147483666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8503-02FD-4ED4-B302-8B56F38888EE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C9890-F0CD-4BE5-B860-658134756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05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ORIENTAÇÕES GERAIS PARA O PROFESSOR:</a:t>
            </a:r>
          </a:p>
          <a:p>
            <a:r>
              <a:t>- Tema: Geometria Espacial (Prismas: área da superfície e volume).</a:t>
            </a:r>
          </a:p>
          <a:p>
            <a:r>
              <a:t>- Habilidade BNCC: EF09MA19 (Resolver e elaborar problemas que envolvam medidas de volumes de prismas retos).</a:t>
            </a:r>
          </a:p>
          <a:p>
            <a:r>
              <a:t>- Organização temporal: 4 blocos de 30 minutos (120 min no total).</a:t>
            </a:r>
          </a:p>
          <a:p>
            <a:r>
              <a:t>- Recursos: Apresentação multimídia, modelos geométricos sólidos (se disponíveis), régua e calculadora.</a:t>
            </a:r>
          </a:p>
          <a:p>
            <a:r>
              <a:t>- Estrutura: Cada aula possui exposição conceitual, exemplo resolvido passo a passo e atividade com resolução completa registrada nestas anotações.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panorama geral aos alunos para que compreendam a jornada de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Iniciar a aula perguntando aos alunos quais objetos da sala de aula ou da casa deles lembram prismas.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a diferença entre prismas e pirâmides (pirâmides possuem apenas uma base e convergem para um vértice; prismas possuem duas bases idênticas e paralelas).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Chamar a atenção para o diagrama:</a:t>
            </a:r>
          </a:p>
          <a:p>
            <a:r>
              <a:t>- No prisma reto, o comprimento da aresta lateral é exatamente igual à altura h do prisma.</a:t>
            </a:r>
          </a:p>
          <a:p>
            <a:r>
              <a:t>- Mostrar que o número de faces laterais é sempre igual ao número de lados da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prisma girando em 3D para que os alunos percebam a congruência entre a base superior e a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a vista explodida, fica evidente para os alunos que as faces laterais 'envolvem' o perímetro das duas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a Relação de Euler para poliedros convexos: V - A + F = 2.</a:t>
            </a:r>
          </a:p>
          <a:p>
            <a:r>
              <a:t>Fórmula geral para um prisma de base com n lados:</a:t>
            </a:r>
          </a:p>
          <a:p>
            <a:r>
              <a:t>- Faces: F = n + 2</a:t>
            </a:r>
          </a:p>
          <a:p>
            <a:r>
              <a:t>- Vértices: V = 2n</a:t>
            </a:r>
          </a:p>
          <a:p>
            <a:r>
              <a:t>- Arestas: A = 3n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Comentar com a turma sobre o conceito de logística no SENAI e nas indústrias: caixas prismáticas aproveitam 100% da área dos pallets sem deixar vãos vazios.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COMPLETA DA ATIVIDADE 1:</a:t>
            </a:r>
          </a:p>
          <a:p>
            <a:r>
              <a:t>a) O prisma possui 2 bases (octógonos) e 8 faces laterais retangulares.</a:t>
            </a:r>
          </a:p>
          <a:p>
            <a:r>
              <a:t>b) Contagem de elementos (base com n = 8 lados):</a:t>
            </a:r>
          </a:p>
          <a:p>
            <a:r>
              <a:t>   - Total de Faces: F = 8 faces laterais + 2 bases = 10 faces.</a:t>
            </a:r>
          </a:p>
          <a:p>
            <a:r>
              <a:t>   - Total de Vértices: V = 8 vértices na base inferior + 8 vértices na base superior = 16 vértices.</a:t>
            </a:r>
          </a:p>
          <a:p>
            <a:r>
              <a:t>   - Total de Arestas: A = 8 arestas na base inferior + 8 arestas na base superior + 8 arestas laterais = 24 arestas.</a:t>
            </a:r>
          </a:p>
          <a:p>
            <a:r>
              <a:t>c) Verificação da Relação de Euler:</a:t>
            </a:r>
          </a:p>
          <a:p>
            <a:r>
              <a:t>   V - A + F = 16 - 24 + 10 = -8 + 10 = 2. Confirmado!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desta aula: capacitar os alunos a calcular a quantidade de material necessário para fabricar ou revestir um prisma.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a planificação é a base do corte industrial de papelão e chapas metálicas.</a:t>
            </a:r>
          </a:p>
          <a:p>
            <a:r>
              <a:t>A área lateral é a área do retângulo 'esticado': Al = (perímetro da base) ×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animação vetorial do Manim ilustra o processo mecânico de corte e dobra de embalagens na indústria gráfica.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 o porquê do '2 · Ab': o prisma possui DUAS bases (tampa e fundo). Se o exercício pedir uma caixa aberta ou sem tampa, usa-se apenas 1 ·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MÉTODO ALTERNATIVO (Soma aos pares):</a:t>
            </a:r>
          </a:p>
          <a:p>
            <a:r>
              <a:t>At = 2·(a·b + a·c + b·c)</a:t>
            </a:r>
          </a:p>
          <a:p>
            <a:r>
              <a:t>At = 2·(30·20 + 30·12 + 20·12) = 2·(600 + 360 + 240) = 2·(1200) = 2.400 cm².</a:t>
            </a:r>
          </a:p>
          <a:p>
            <a:r>
              <a:t>Ambos os métodos são válidos e chegam ao mesmo resultado!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que o cubo é o prisma mais simétrico que existe: todas as faces são congruentes entre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COMPLETA DA ATIVIDADE 2:</a:t>
            </a:r>
          </a:p>
          <a:p>
            <a:r>
              <a:t>1. Área da base (quadrado de lado 10 cm):</a:t>
            </a:r>
          </a:p>
          <a:p>
            <a:r>
              <a:t>   Ab = 10² = 100 cm²</a:t>
            </a:r>
          </a:p>
          <a:p>
            <a:r>
              <a:t>2. Perímetro da base:</a:t>
            </a:r>
          </a:p>
          <a:p>
            <a:r>
              <a:t>   2p = 4 × 10 = 40 cm</a:t>
            </a:r>
          </a:p>
          <a:p>
            <a:r>
              <a:t>3. Área lateral (4 retângulos de 10 cm × 25 cm):</a:t>
            </a:r>
          </a:p>
          <a:p>
            <a:r>
              <a:t>   Al = 2p × h = 40 × 25 = 1.000 cm²</a:t>
            </a:r>
          </a:p>
          <a:p>
            <a:r>
              <a:t>4. Área total:</a:t>
            </a:r>
          </a:p>
          <a:p>
            <a:r>
              <a:t>   At = Al + 2·Ab = 1.000 + 2·(100) = 1.000 + 200 = 1.200 cm².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COMPLETA DA ATIVIDADE 3:</a:t>
            </a:r>
          </a:p>
          <a:p>
            <a:r>
              <a:t>1. Área total da caixa (paralelepípedo a = 25, b = 15, c = 8):</a:t>
            </a:r>
          </a:p>
          <a:p>
            <a:r>
              <a:t>   At = 2 · (ab + ac + bc)</a:t>
            </a:r>
          </a:p>
          <a:p>
            <a:r>
              <a:t>   ab = 25 × 15 = 375 cm²</a:t>
            </a:r>
          </a:p>
          <a:p>
            <a:r>
              <a:t>   ac = 25 × 8 = 200 cm²</a:t>
            </a:r>
          </a:p>
          <a:p>
            <a:r>
              <a:t>   bc = 15 × 8 = 120 cm²</a:t>
            </a:r>
          </a:p>
          <a:p>
            <a:r>
              <a:t>   At = 2 · (375 + 200 + 120) = 2 · (695) = 1.390 cm².</a:t>
            </a:r>
          </a:p>
          <a:p>
            <a:r>
              <a:t>2. Acréscimo de 15% para dobras e acabamento:</a:t>
            </a:r>
          </a:p>
          <a:p>
            <a:r>
              <a:t>   Sobras = 1.390 × 0,15 = 208,5 cm².</a:t>
            </a:r>
          </a:p>
          <a:p>
            <a:r>
              <a:t>3. Área total de papel necessária:</a:t>
            </a:r>
          </a:p>
          <a:p>
            <a:r>
              <a:t>   Total = 1.390 + 208,5 = 1.598,5 cm².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aula: entender volume como espaço tridimensional e relacionar unidades de volume cúbico com capacidade em litros.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 Princípio de Cavalieri: se dois sólidos têm a mesma altura e seções transversais de áreas iguais em qualquer plano paralelo às bases, eles têm o mesmo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o mesmo raciocínio de empilhamento de folhas de papel ou lâminas vale para qualquer formato de base regular ou irregular.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Lembrar que todas as medidas devem estar na MESMA unidade antes de efetuar a multiplicação (todas em metros, ou todas em centímetros,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ALERTAR OS ALUNOS PARA O ERRO CLÁSSICO:</a:t>
            </a:r>
          </a:p>
          <a:p>
            <a:r>
              <a:t>- Muitos alunos pensam que 1 m³ = 100 L porque 1 m = 100 cm. Isso está ERRADO!</a:t>
            </a:r>
          </a:p>
          <a:p>
            <a:r>
              <a:t>- 1 m = 10 dm -&gt; 1 m³ = (10 dm)³ = 1.000 dm³ = 1.000 Litros.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MÉTODO EM DECÍMETROS:</a:t>
            </a:r>
          </a:p>
          <a:p>
            <a:r>
              <a:t>2,0 m = 20 dm; 1,5 m = 15 dm; 1,2 m = 12 dm.</a:t>
            </a:r>
          </a:p>
          <a:p>
            <a:r>
              <a:t>V = 20 × 15 × 12 = 3.600 dm³ = 3.600 Litros. Enfatizar a praticidade de converter para decímetros quando se quer a resposta direta em litros!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Atenção didática: diferenciar a altura da base triangular (h_tri) da altura do prisma (comprimento da peça).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COMPLETA DA ATIVIDADE 4:</a:t>
            </a:r>
          </a:p>
          <a:p>
            <a:r>
              <a:t>1. Dimensões ocupadas pela água:</a:t>
            </a:r>
          </a:p>
          <a:p>
            <a:r>
              <a:t>   Comprimento = 60 cm</a:t>
            </a:r>
          </a:p>
          <a:p>
            <a:r>
              <a:t>   Largura = 40 cm</a:t>
            </a:r>
          </a:p>
          <a:p>
            <a:r>
              <a:t>   Altura da água = 45 cm</a:t>
            </a:r>
          </a:p>
          <a:p>
            <a:r>
              <a:t>2. Cálculo do volume:</a:t>
            </a:r>
          </a:p>
          <a:p>
            <a:r>
              <a:t>   V = 60 × 40 × 45 = 108.000 cm³</a:t>
            </a:r>
          </a:p>
          <a:p>
            <a:r>
              <a:t>3. Conversão para Litros:</a:t>
            </a:r>
          </a:p>
          <a:p>
            <a:r>
              <a:t>   Como 1 L = 1.000 cm³:</a:t>
            </a:r>
          </a:p>
          <a:p>
            <a:r>
              <a:t>   Capacidade = 108.000 / 1.000 = 108 Litros de água.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imagem 3D em estúdio reforça o cuidado prático na engenharia: reservatórios nunca devem ser calculados apenas pela borda superior quando há limite de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última aula, os alunos integram os dois conceitos e aprendem a decidir quando o problema exige cálculo de área e quando exige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Quadro de fixação essencial para evitar erros em avaliações e no cotidiano.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aos alunos como a indústria de embalagens precisa otimizar a relação Área/Volume para economizar papelão e transportar o máximo de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COMPLETA DA ATIVIDADE 5:</a:t>
            </a:r>
          </a:p>
          <a:p>
            <a:r>
              <a:t>1. Área da base triangular (frente da tenda):</a:t>
            </a:r>
          </a:p>
          <a:p>
            <a:r>
              <a:t>   Ab = (base × altura do triângulo) / 2</a:t>
            </a:r>
          </a:p>
          <a:p>
            <a:r>
              <a:t>   Ab = (2,0 m × 1,5 m) / 2 = 3,0 / 2 = 1,5 m²</a:t>
            </a:r>
          </a:p>
          <a:p>
            <a:r>
              <a:t>2. Volume de ar no interior da tenda (h_prisma = 3,0 m):</a:t>
            </a:r>
          </a:p>
          <a:p>
            <a:r>
              <a:t>   V = Ab × h_prisma</a:t>
            </a:r>
          </a:p>
          <a:p>
            <a:r>
              <a:t>   V = 1,5 m² × 3,0 m = 4,5 m³</a:t>
            </a:r>
          </a:p>
          <a:p>
            <a:r>
              <a:t>3. Capacidade equivalente em litros:</a:t>
            </a:r>
          </a:p>
          <a:p>
            <a:r>
              <a:t>   4,5 m³ × 1.000 = 4.500 Litros de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de consulta rápida para os alunos levarem para os estudos e avaliações.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Encerrar a 4ª aula parabenizando a turma e indicando a lista complementar de exercícios para fixação.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2D5BF-9160-4B29-8DB3-0B5FE251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325880"/>
            <a:ext cx="9144000" cy="22402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DABB6-94C1-AEDC-B294-3F78F2AB4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794760"/>
            <a:ext cx="9144000" cy="13716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76B15-6576-6FD7-0C2E-54CE9DB4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9C94-F658-6E14-6F89-89AC2A31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02386-E531-B290-EC44-53EAB83B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  <p:pic>
        <p:nvPicPr>
          <p:cNvPr id="99" name="Rodape Fatesg">
            <a:extLst>
              <a:ext uri="{FF2B5EF4-FFF2-40B4-BE49-F238E27FC236}">
                <a16:creationId xmlns:a16="http://schemas.microsoft.com/office/drawing/2014/main" id="{3458AEEF-128F-E37F-18D7-5EF47442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42" y="6238875"/>
            <a:ext cx="745951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7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CA4E1-6F7D-5D34-151D-C01D99BD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FD3BE-B227-8FCB-53F3-59916EAF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74519"/>
            <a:ext cx="1051560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82476D-13B0-ADE6-1737-0A373E74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D8AFE-59BE-757B-E1B4-DB5F5787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3C832-5218-EFDA-E274-FDCA0700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36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5DAE-0295-79AD-9370-80114015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6BD4B-C941-485C-0969-6E6E90B5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69AAB-F1F7-7F63-C426-7375E011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E85C4-254D-0AAA-2BF1-2092BAF5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A0837-EA37-21A8-5C2C-58FA398A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6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676F2-AB22-42D8-EE1C-4855BC64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1EF80-2C8A-1BEE-A358-10BC569B0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8A7378-FE0B-9AE2-F1DA-739FDC7CC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74519"/>
            <a:ext cx="5184648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856DA3-B64F-89E2-5B8D-FFED01F5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BB335-7FB9-CF5D-EA5E-08DDC166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AC272B-0A5C-4D26-F847-A111078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7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AF056-9C67-B67A-7EDD-57DF1C05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E919-F693-E23B-08D8-06FBE668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5157216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569BE-32B6-2F72-6D61-2559E7D3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468880"/>
            <a:ext cx="5157216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460181-19DB-FA49-9398-EE9915D90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4519"/>
            <a:ext cx="5184648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369D61-69CA-2F18-9DFD-399B5F1BE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68880"/>
            <a:ext cx="5184648" cy="37490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8BA526-387D-1CD1-3324-11A65460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EE9128-B089-0D3F-3E76-6986DA7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707327-E3D5-B47B-94CE-075603CF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3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4FB74-920B-A751-F3A7-B0A25A1D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0589D6-1C4E-F5F3-42FA-D1C286E6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4A6C51-C45E-CE3F-073A-CCAAABC9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4B2605-765C-CB1F-B907-25788144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53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28A5E3-A863-F93D-F46E-D7DA9918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E0909A-2D89-49CE-16B7-FDEF5965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39404D-35AE-A783-7ECA-B50019C6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0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50941-EEAF-F623-A341-B4101B79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45C44-735A-BE4B-3D6D-2108A535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E95D5-4AE6-3DB1-93A5-4B4DFECF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30DB8-CB8D-95E5-B3EE-9ACAD8C8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1B804-5C55-A72D-94E1-80FBD932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4597DC-EE0D-DDCA-859D-2D50A390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16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8593B-92C6-AAB2-086C-E906F278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51560"/>
            <a:ext cx="3931920" cy="1097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2FC6D9-BBA7-734B-5A70-8F23A580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648" y="1051560"/>
            <a:ext cx="6172200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0966C0-8E89-0024-21A1-4251E277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240280"/>
            <a:ext cx="3931920" cy="3977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5B1467-26E9-01B2-ED7F-E57AEA7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B0FE0-8C8C-88D7-AC80-FC1E958E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DC404-A6F9-FEE7-948F-27AFD8F6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2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063B-1EAF-45E4-5941-A9AB633B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5C9B21-7BEA-42AD-AB55-BA3FBCA2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874519"/>
            <a:ext cx="10515600" cy="4343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55012-84D0-2070-77EB-EACB66F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2D62E-08D4-4966-B6AD-FE0B2BC2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BF4A9B-D3C4-477E-8A30-86EB8489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32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3367F-ECC8-2958-DB6D-29217CFD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76" y="1005840"/>
            <a:ext cx="2633472" cy="52120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C8D60-2756-5E8D-4EF0-BFFA2096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1248" y="1005840"/>
            <a:ext cx="7735824" cy="5212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BF400-A14F-B8DC-78D0-DF6A96A0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616397-0B3E-2911-7340-48A0653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3D648-336E-5E66-B89C-B72B05D2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0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2000" r="4000" b="8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8E0650-771E-1E54-E445-9F337D63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60120"/>
            <a:ext cx="105156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4F0239-AA49-F6D2-DD7A-0DD7B61E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1874519"/>
            <a:ext cx="10515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6FBC9-8923-C3D7-9404-773C4D030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A1A09C-72E7-EE24-AB15-66958ACF2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E71A1-FE19-C152-AF28-2A4F2FE6A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65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Prismas: Área e Volume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2200">
                <a:solidFill>
                  <a:srgbClr val="575656"/>
                </a:solidFill>
              </a:rPr>
              <a:t>Geometria Espacial • 4 Aulas de 30 minutos</a:t>
            </a:r>
          </a:p>
          <a:p>
            <a:pPr algn="ctr"/>
            <a:r>
              <a:rPr sz="1800" b="0">
                <a:solidFill>
                  <a:srgbClr val="0E4194"/>
                </a:solidFill>
              </a:rPr>
              <a:t>Matemática — 9º Ano do Ensino Fundamental | Prof. Msc. Ujeverson Tavares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639312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Cronograma das Quatro Aulas (4 × 30 min)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105155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555"/>
                <a:gridCol w="1237129"/>
                <a:gridCol w="3092823"/>
                <a:gridCol w="4701091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Aula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Tempo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Tópico Principal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Foco Didático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Aula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O que é um Prisma?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Conceito, elementos (bases, faces, arestas) e Relação de Euler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Aula 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30 min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Áreas da Superfície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Planificação, Área Lateral (Al) e Área Total (At)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Aula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30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Volume e Capacidade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Fórmula V = Ab · h e relações com litros (m³, dm³, cm³)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Aula 4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30 min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Aplicações e Síntese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Problemas integrados (área x volume), desafios e resumo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/>
              <a:t>Aula 1: O que é um Prisma?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575656"/>
                </a:solidFill>
              </a:rPr>
              <a:t>Definição geométrica, elementos e classificação (30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Definição Geométrica de Prisma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400" b="1">
                <a:solidFill>
                  <a:srgbClr val="0E4194"/>
                </a:solidFill>
              </a:rPr>
              <a:t>Um prisma é um poliedro com duas bases poligonais paralelas e congruentes, cujas faces laterais são paralelogramos.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As bases têm exatamente o mesmo formato e tamanho (triângulos, quadrados, hexágonos...)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A distância perpendicular entre os planos das duas bases é a altura (h)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Prisma Reto: as arestas laterais são perpendiculares às bases (faces laterais são retângulos)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No 9º ano, nosso foco principal são os prismas retos!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Elementos Fundamentais do Prisma</a:t>
            </a:r>
          </a:p>
        </p:txBody>
      </p:sp>
      <p:pic>
        <p:nvPicPr>
          <p:cNvPr id="3" name="Picture Placeholder 2" descr="elementos_prisma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687568" y="1051560"/>
            <a:ext cx="5166360" cy="516636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62626"/>
                </a:solidFill>
              </a:rPr>
              <a:t>Bases: dois polígonos paralelos e congruentes</a:t>
            </a:r>
          </a:p>
          <a:p>
            <a:pPr/>
            <a:r>
              <a:rPr sz="1800">
                <a:solidFill>
                  <a:srgbClr val="262626"/>
                </a:solidFill>
              </a:rPr>
              <a:t>Faces Laterais: retângulos ligando as bases</a:t>
            </a:r>
          </a:p>
          <a:p>
            <a:pPr/>
            <a:r>
              <a:rPr sz="1800">
                <a:solidFill>
                  <a:srgbClr val="262626"/>
                </a:solidFill>
              </a:rPr>
              <a:t>Arestas da Base: lados dos polígonos das bases</a:t>
            </a:r>
          </a:p>
          <a:p>
            <a:pPr/>
            <a:r>
              <a:rPr sz="1800">
                <a:solidFill>
                  <a:srgbClr val="262626"/>
                </a:solidFill>
              </a:rPr>
              <a:t>Arestas Laterais: segmentos que unem as bases</a:t>
            </a:r>
          </a:p>
          <a:p>
            <a:pPr/>
            <a:r>
              <a:rPr sz="1800">
                <a:solidFill>
                  <a:srgbClr val="262626"/>
                </a:solidFill>
              </a:rPr>
              <a:t>Vértices: pontos de junção das arestas</a:t>
            </a:r>
          </a:p>
          <a:p>
            <a:pPr/>
            <a:r>
              <a:rPr sz="1800">
                <a:solidFill>
                  <a:srgbClr val="262626"/>
                </a:solidFill>
              </a:rPr>
              <a:t>Altura (h): distância entre as 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Rotação 3D do Prisma Regular (Blender)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Sólido tridimensional em estúdio virtual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Duas bases regulares idênticas e paralelas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Faces laterais retangulares conectando os vértices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Chanfro (bevel) destacado pela luz de contorno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Giro contínuo facilita a percepção espacial</a:t>
            </a:r>
          </a:p>
        </p:txBody>
      </p:sp>
      <p:pic>
        <p:nvPicPr>
          <p:cNvPr id="4" name="Picture 3" descr="blender_prisma_hex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208" y="1874519"/>
            <a:ext cx="524256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6128" y="5852159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75656"/>
                </a:solidFill>
              </a:rPr>
              <a:t>Motion Design 3D com Blender: rotação 360° em estúdio com fundo transparente e materiais oficiais SENAI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Estrutura e Decomposição: Vista Explodida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Bases poligonais (em laranja SENAI): 2 bases idênticas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Faces laterais (em azul SENAI): retângulos de fechamento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Abertura espacial facilita a contagem de elementos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Evidencia o número de faces: F = n (laterais) + 2 (bases)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Visualização ideal para fixar a Relação de Euler</a:t>
            </a:r>
          </a:p>
        </p:txBody>
      </p:sp>
      <p:pic>
        <p:nvPicPr>
          <p:cNvPr id="4" name="Picture 3" descr="blender_vista_explod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040254"/>
            <a:ext cx="5760719" cy="36004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6128" y="5852159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75656"/>
                </a:solidFill>
              </a:rPr>
              <a:t>Modelagem 3D Blender: separação física das duas bases poligonais e das faces laterais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Classificação dos Prismas e Relação de Euler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105155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561"/>
                <a:gridCol w="2600632"/>
                <a:gridCol w="1130709"/>
                <a:gridCol w="1130709"/>
                <a:gridCol w="1130709"/>
                <a:gridCol w="2035277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Nome do Prisma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Faces (F)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Vértices (V)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Arestas (A)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 - A + F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Triângulo (3 lados)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Triangular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6 - 9 + 5 =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Quadrilátero (4 lados)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Quadrangular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8 - 12 + 6 = 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Pentágono (5 lados)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Pentagonal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10 - 15 + 7 =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Hexágono (6 lados)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Hexagonal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18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12 - 18 + 8 = 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Prismas no Cotidiano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262626"/>
                </a:solidFill>
              </a:rPr>
              <a:t>Onde encontramos prismas?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Caixas de sapatos, caixas de leite (paralelepípedos)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Embalagens de chocolate triangular (ex: Toblerone)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Lápis e giz com seção transversal hexagonal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Edifícios e galpões industriais modernos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262626"/>
                </a:solidFill>
              </a:rPr>
              <a:t>Por que essa forma é tão usada?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Facilidade de empilhamento vertical e horizontal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Otimização de espaço no transporte e logística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Facilidade de corte e montagem a partir de chapas planas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Estruturas estáveis e resistentes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Atividade 1 • Identificação e Elementos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800" b="1">
                <a:solidFill>
                  <a:srgbClr val="0E4194"/>
                </a:solidFill>
              </a:rPr>
              <a:t>Uma fábrica de biscoitos quer lançar uma embalagem em formato de prisma octogonal reto (base com 8 lados).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a) Quantas faces laterais e quantas bases essa embalagem possui?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b) Qual é o número total de faces (F), vértices (V) e arestas (A)?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c) Comprove que a Relação de Euler (V - A + F = 2) é satisfeita.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/>
              <a:t>Aula 2: Áreas da Superfície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575656"/>
                </a:solidFill>
              </a:rPr>
              <a:t>Planificação, Área Lateral e Área Total (30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Planificação de um Prisma Reto</a:t>
            </a:r>
          </a:p>
        </p:txBody>
      </p:sp>
      <p:pic>
        <p:nvPicPr>
          <p:cNvPr id="3" name="Picture Placeholder 2" descr="planificacao_prisma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184648" y="1915899"/>
            <a:ext cx="6172200" cy="3437681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2000">
                <a:solidFill>
                  <a:srgbClr val="262626"/>
                </a:solidFill>
              </a:rPr>
              <a:t>Planificar é abrir o sólido em uma folha plana</a:t>
            </a:r>
          </a:p>
          <a:p>
            <a:pPr/>
            <a:r>
              <a:rPr sz="2000">
                <a:solidFill>
                  <a:srgbClr val="262626"/>
                </a:solidFill>
              </a:rPr>
              <a:t>As faces laterais juntas formam um único retângulo</a:t>
            </a:r>
          </a:p>
          <a:p>
            <a:pPr/>
            <a:r>
              <a:rPr sz="2000">
                <a:solidFill>
                  <a:srgbClr val="262626"/>
                </a:solidFill>
              </a:rPr>
              <a:t>Comprimento desse retângulo = Perímetro da base (2p)</a:t>
            </a:r>
          </a:p>
          <a:p>
            <a:pPr/>
            <a:r>
              <a:rPr sz="2000">
                <a:solidFill>
                  <a:srgbClr val="262626"/>
                </a:solidFill>
              </a:rPr>
              <a:t>Largura desse retângulo = Altura do prisma (h)</a:t>
            </a:r>
          </a:p>
          <a:p>
            <a:pPr/>
            <a:r>
              <a:rPr sz="2000">
                <a:solidFill>
                  <a:srgbClr val="262626"/>
                </a:solidFill>
              </a:rPr>
              <a:t>As duas bases completam a superfície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Planificação Geométrica da Superfície (Manim)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Desdobramento contínuo das faces no plano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Três faces laterais abertas em faixa contínua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Cota de altura (h) e perímetro da base (2p = a + b + c)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Duas bases triangulares em abas superior e inferior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Dedução visual da fórmula: At = Al + 2·Ab</a:t>
            </a:r>
          </a:p>
        </p:txBody>
      </p:sp>
      <p:pic>
        <p:nvPicPr>
          <p:cNvPr id="4" name="Picture 3" descr="manim_planific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220276"/>
            <a:ext cx="5760720" cy="3240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6128" y="5852159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75656"/>
                </a:solidFill>
              </a:rPr>
              <a:t>Motion Design vetorial Manim: desdobramento das faces, cotas de altura e perímetro e dedução de 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Fórmulas das Áreas da Superfície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Área da Base (Ab):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Área do polígono da base (quadrado: l², retângulo: b·h, triângulo: b·h/2)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Lateral (Al):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Soma de todas as faces laterais: Al = (Perímetro da Base) × h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Total (At):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Soma da área lateral com as duas bases idênticas: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At = Al + 2 · 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Exemplo Resolvido 1: Paralelepípedo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262626"/>
                </a:solidFill>
              </a:rPr>
              <a:t>Problema: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Uma caixa de sapato em forma de paralelepípedo tem dimensões 30 cm de comprimento, 20 cm de largura e 12 cm de altura.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Calcule a área total de papelão necessária para produzir essa caixa (fechada).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400">
                <a:solidFill>
                  <a:srgbClr val="262626"/>
                </a:solidFill>
              </a:rPr>
              <a:t>Resolução Passo a Passo: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1. Área da base: Ab = 30 × 20 = 600 cm²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2. Perímetro da base: 2p = 2×(30 + 20) = 100 cm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3. Área lateral: Al = 100 × 12 = 1.200 cm²</a:t>
            </a:r>
          </a:p>
          <a:p>
            <a:pPr lvl="1"/>
            <a:r>
              <a:rPr sz="2200">
                <a:solidFill>
                  <a:srgbClr val="262626"/>
                </a:solidFill>
              </a:rPr>
              <a:t>4. Área total: At = Al + 2·Ab</a:t>
            </a:r>
          </a:p>
          <a:p>
            <a:pPr lvl="2"/>
            <a:r>
              <a:rPr sz="2000">
                <a:solidFill>
                  <a:srgbClr val="262626"/>
                </a:solidFill>
              </a:rPr>
              <a:t>At = 1.200 + 2 × (600) = 2.400 cm²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Exemplo Resolvido 2: O Cubo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Conceito do Cubo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O cubo possui 6 faces quadradas idênticas</a:t>
            </a:r>
          </a:p>
          <a:p>
            <a:pPr/>
            <a:r>
              <a:rPr sz="2800">
                <a:solidFill>
                  <a:srgbClr val="262626"/>
                </a:solidFill>
              </a:rPr>
              <a:t>Todas as arestas têm a mesma medida 'a'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de cada face = a²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Total: At = 6 · a²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Aplicação com Números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Dado um cubo de aresta a = 5 cm: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de 1 face = 5² = 25 cm²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lateral (4 faces) = 4 × 25 = 100 cm²</a:t>
            </a:r>
          </a:p>
          <a:p>
            <a:pPr/>
            <a:r>
              <a:rPr sz="2800">
                <a:solidFill>
                  <a:srgbClr val="262626"/>
                </a:solidFill>
              </a:rPr>
              <a:t>Área total (6 faces) = 6 × 25 = 150 cm²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Atividade 2 • Área de Prisma Quadrangular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400" b="1">
                <a:solidFill>
                  <a:srgbClr val="0E4194"/>
                </a:solidFill>
              </a:rPr>
              <a:t>Uma luminária em formato de prisma reto de base quadrada tem aresta da base medindo 10 cm e altura de 25 cm. Determine a área lateral e a área total dessa luminária.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Passo 1: Calcule a área da base quadrada (Ab = L²)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2: Calcule o perímetro da base (2p = 4 × L)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3: Calcule a área lateral (Al = 2p × h) e a área total (At = Al + 2·Ab)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Atividade 3 • Embalagem de Presente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200" b="1">
                <a:solidFill>
                  <a:srgbClr val="0E4194"/>
                </a:solidFill>
              </a:rPr>
              <a:t>Juliana vai encapar uma caixa de presente de dimensões 25 cm × 15 cm × 8 cm com papel decorativo. Sabendo que é preciso 15% a mais de papel para dobras e emendas, qual a área mínima de papel necessária?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Calcule a área total da caixa de presente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Calcule 15% sobre o valor da área total para as dobras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Some a área da caixa com o acréscimo de 15%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/>
              <a:t>Aula 3: Volume e Capacidade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575656"/>
                </a:solidFill>
              </a:rPr>
              <a:t>Cálculo de volume e relações com litros (30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 Princípio do Cálculo de Volume</a:t>
            </a:r>
          </a:p>
        </p:txBody>
      </p:sp>
      <p:pic>
        <p:nvPicPr>
          <p:cNvPr id="3" name="Picture Placeholder 2" descr="volume_capacidade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184648" y="2201908"/>
            <a:ext cx="6172200" cy="2865664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2000">
                <a:solidFill>
                  <a:srgbClr val="262626"/>
                </a:solidFill>
              </a:rPr>
              <a:t>Volume = medida do espaço tridimensional ocupado</a:t>
            </a:r>
          </a:p>
          <a:p>
            <a:pPr/>
            <a:r>
              <a:rPr sz="2000">
                <a:solidFill>
                  <a:srgbClr val="262626"/>
                </a:solidFill>
              </a:rPr>
              <a:t>Ideia intuitiva: empilhar fatias de área Ab até a altura h</a:t>
            </a:r>
          </a:p>
          <a:p>
            <a:pPr/>
            <a:r>
              <a:rPr sz="2000">
                <a:solidFill>
                  <a:srgbClr val="262626"/>
                </a:solidFill>
              </a:rPr>
              <a:t>Fórmula Universal para qualquer prisma reto:</a:t>
            </a:r>
          </a:p>
          <a:p>
            <a:pPr/>
            <a:r>
              <a:rPr sz="2000">
                <a:solidFill>
                  <a:srgbClr val="262626"/>
                </a:solidFill>
              </a:rPr>
              <a:t>V = Área da Base × Altura (V = Ab · h)</a:t>
            </a:r>
          </a:p>
          <a:p>
            <a:pPr/>
            <a:r>
              <a:rPr sz="2000">
                <a:solidFill>
                  <a:srgbClr val="262626"/>
                </a:solidFill>
              </a:rPr>
              <a:t>1 m³ = 1.000 Litros  |  1 dm³ = 1 Litro  |  1 cm³ = 1 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Princípio do Volume por Extrusão (Manim)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Base poligonal com área superficial Ab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Princípio de Cavalieri: camadas acumuladas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Cada fatia infinitesimal adiciona volume na direção h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Gradiente de cores SENAI marcando a altura acumulada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Fórmula universal: Volume = Ab × h</a:t>
            </a:r>
          </a:p>
        </p:txBody>
      </p:sp>
      <p:pic>
        <p:nvPicPr>
          <p:cNvPr id="4" name="Picture 3" descr="manim_volume_extr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220276"/>
            <a:ext cx="5760720" cy="3240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6128" y="5852159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75656"/>
                </a:solidFill>
              </a:rPr>
              <a:t>Motion Design Manim: fatiamento contínuo em camadas empilhadas demonstrando V = Ab · 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Volume de Blocos Retangulares</a:t>
            </a:r>
          </a:p>
        </p:txBody>
      </p:sp>
      <p:pic>
        <p:nvPicPr>
          <p:cNvPr id="3" name="Picture Placeholder 2" descr="paralelepipedo_cubo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184648" y="1946855"/>
            <a:ext cx="6172200" cy="337577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2000">
                <a:solidFill>
                  <a:srgbClr val="262626"/>
                </a:solidFill>
              </a:rPr>
              <a:t>Paralelepípedo Retângulo:</a:t>
            </a:r>
          </a:p>
          <a:p>
            <a:pPr/>
            <a:r>
              <a:rPr sz="2000">
                <a:solidFill>
                  <a:srgbClr val="262626"/>
                </a:solidFill>
              </a:rPr>
              <a:t>V = comprimento × largura × altura</a:t>
            </a:r>
          </a:p>
          <a:p>
            <a:pPr/>
            <a:r>
              <a:rPr sz="2000">
                <a:solidFill>
                  <a:srgbClr val="262626"/>
                </a:solidFill>
              </a:rPr>
              <a:t>V = c · l · h</a:t>
            </a:r>
          </a:p>
          <a:p>
            <a:pPr/>
            <a:r>
              <a:rPr sz="2000">
                <a:solidFill>
                  <a:srgbClr val="262626"/>
                </a:solidFill>
              </a:rPr>
              <a:t>Cubo de aresta 'a':</a:t>
            </a:r>
          </a:p>
          <a:p>
            <a:pPr/>
            <a:r>
              <a:rPr sz="2000">
                <a:solidFill>
                  <a:srgbClr val="262626"/>
                </a:solidFill>
              </a:rPr>
              <a:t>V = a · a · a = a³</a:t>
            </a:r>
          </a:p>
          <a:p>
            <a:pPr/>
            <a:r>
              <a:rPr sz="2000">
                <a:solidFill>
                  <a:srgbClr val="262626"/>
                </a:solidFill>
              </a:rPr>
              <a:t>Basta multiplicar as três dimensões!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Tabela de Conversão: Volume x Capacidade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/>
                <a:gridCol w="2628900"/>
                <a:gridCol w="4600575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Unidade de Volume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Equivalência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Exemplo Real do Dia a Dia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metro cúbico (1 m³)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1.000 Litros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Caixas d'água residenciais, caminhões-pipa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decímetro cúbico (1 dm³)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Litro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Caixa de leite longa vida, suco de 1 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centímetro cúbico (1 cm³)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mililitro (1 mL)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Seringas médicas, dosadores de remédios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1.000 cm³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1 Litro (1.000 mL)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Garrafa de água mineral padrão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Exemplo Resolvido 3: Caixa d'Água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Problema: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Uma caixa d'água tem a forma de um paralelepípedo com 2,0 m de comprimento, 1,5 m de largura e 1,2 m de altura.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Quantos litros de água ela comporta quando está completamente cheia?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Resolução: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1. Cálculo do volume em m³: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V = comprimento × largura × altura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V = 2,0 × 1,5 × 1,2 = 3,6 m³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2. Conversão para litros: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Como 1 m³ = 1.000 Litros: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Capacidade = 3,6 × 1.000 = 3.600 Litros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Volume do Prisma de Base Triangular</a:t>
            </a:r>
          </a:p>
        </p:txBody>
      </p:sp>
      <p:pic>
        <p:nvPicPr>
          <p:cNvPr id="3" name="Picture Placeholder 2" descr="prisma_triangula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998724" y="1051560"/>
            <a:ext cx="4544048" cy="516636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2000">
                <a:solidFill>
                  <a:srgbClr val="262626"/>
                </a:solidFill>
              </a:rPr>
              <a:t>A base é um triângulo com base b e altura h_tri</a:t>
            </a:r>
          </a:p>
          <a:p>
            <a:pPr/>
            <a:r>
              <a:rPr sz="2000">
                <a:solidFill>
                  <a:srgbClr val="262626"/>
                </a:solidFill>
              </a:rPr>
              <a:t>Área da base triangular: Ab = (b × h_tri) / 2</a:t>
            </a:r>
          </a:p>
          <a:p>
            <a:pPr/>
            <a:r>
              <a:rPr sz="2000">
                <a:solidFill>
                  <a:srgbClr val="262626"/>
                </a:solidFill>
              </a:rPr>
              <a:t>Volume do prisma: V = Ab × h_prisma</a:t>
            </a:r>
          </a:p>
          <a:p>
            <a:pPr/>
            <a:r>
              <a:rPr sz="2000">
                <a:solidFill>
                  <a:srgbClr val="262626"/>
                </a:solidFill>
              </a:rPr>
              <a:t>V = [(b × h_tri) / 2] × h_prisma</a:t>
            </a:r>
          </a:p>
          <a:p>
            <a:pPr/>
            <a:r>
              <a:rPr sz="2000">
                <a:solidFill>
                  <a:srgbClr val="262626"/>
                </a:solidFill>
              </a:rPr>
              <a:t>Muito comum em telhados, calhas e rampas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Atividade 4 • Aquário da Escola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400" b="1">
                <a:solidFill>
                  <a:srgbClr val="0E4194"/>
                </a:solidFill>
              </a:rPr>
              <a:t>Um aquário em formato de paralelepípedo possui 60 cm de comprimento, 40 cm de largura e 50 cm de altura. Se a água atinge 45 cm de altura dentro dele, quantos litros de água há no aquário?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Atenção: Use a altura da água (45 cm), não a altura total do aquário!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1: Calcule o volume de água em cm³ (V = c · l · h_água)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2: Converta cm³ para litros (lembre-se: 1.000 cm³ = 1 Litro)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Simulação 3D: Reservatório e Nível da Água (Blender)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74519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262626"/>
                </a:solidFill>
              </a:rPr>
              <a:t>•  Armação estrutural em azul SENAI acetinado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Volume de água com material translúcido e refração física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Apenas a altura da água (45 cm) conta para a capacidade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Espaço livre superior (5 cm) evita transbordamento</a:t>
            </a:r>
          </a:p>
          <a:p>
            <a:pPr/>
            <a:r>
              <a:rPr sz="2200">
                <a:solidFill>
                  <a:srgbClr val="262626"/>
                </a:solidFill>
              </a:rPr>
              <a:t>•  Volume calculado: 60 × 40 × 45 cm³ = 108 Litros</a:t>
            </a:r>
          </a:p>
        </p:txBody>
      </p:sp>
      <p:pic>
        <p:nvPicPr>
          <p:cNvPr id="4" name="Picture 3" descr="blender_reservatorio_ag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040254"/>
            <a:ext cx="5760719" cy="36004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6128" y="5852159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75656"/>
                </a:solidFill>
              </a:rPr>
              <a:t>Modelagem física 3D Blender: reservatório em acrílico com bloco de água preenchendo o volume útil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/>
              <a:t>Aula 4: Aplicações e Desafios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575656"/>
                </a:solidFill>
              </a:rPr>
              <a:t>Problemas integrados de área e volume, síntese e revisão (30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Área versus Volume: Não Confunda!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Área (Superfície)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262626"/>
                </a:solidFill>
              </a:rPr>
              <a:t>Mede a casca / superfície externa</a:t>
            </a:r>
          </a:p>
          <a:p>
            <a:pPr/>
            <a:r>
              <a:rPr sz="2200">
                <a:solidFill>
                  <a:srgbClr val="262626"/>
                </a:solidFill>
              </a:rPr>
              <a:t>Unidade bidimensional: cm², m²</a:t>
            </a:r>
          </a:p>
          <a:p>
            <a:pPr/>
            <a:r>
              <a:rPr sz="2200">
                <a:solidFill>
                  <a:srgbClr val="262626"/>
                </a:solidFill>
              </a:rPr>
              <a:t>Aplicações típicas: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Pintura de paredes e caixas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Quantidade de papelão ou tecido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Revestimento com azulejos</a:t>
            </a:r>
          </a:p>
          <a:p>
            <a:pPr/>
            <a:r>
              <a:rPr sz="2200">
                <a:solidFill>
                  <a:srgbClr val="262626"/>
                </a:solidFill>
              </a:rPr>
              <a:t>Fórmula: At = Al + 2·Ab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/>
            <a:r>
              <a:rPr sz="2200" b="1">
                <a:solidFill>
                  <a:srgbClr val="0E4194"/>
                </a:solidFill>
              </a:rPr>
              <a:t>Volume (Capacidade)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pPr/>
            <a:r>
              <a:rPr sz="2200">
                <a:solidFill>
                  <a:srgbClr val="262626"/>
                </a:solidFill>
              </a:rPr>
              <a:t>Mede o espaço interno / preenchimento</a:t>
            </a:r>
          </a:p>
          <a:p>
            <a:pPr/>
            <a:r>
              <a:rPr sz="2200">
                <a:solidFill>
                  <a:srgbClr val="262626"/>
                </a:solidFill>
              </a:rPr>
              <a:t>Unidade tridimensional: cm³, m³, Litros</a:t>
            </a:r>
          </a:p>
          <a:p>
            <a:pPr/>
            <a:r>
              <a:rPr sz="2200">
                <a:solidFill>
                  <a:srgbClr val="262626"/>
                </a:solidFill>
              </a:rPr>
              <a:t>Aplicações típicas: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Capacidade de água ou combustível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Quantidade de concreto em uma viga</a:t>
            </a:r>
          </a:p>
          <a:p>
            <a:pPr lvl="1"/>
            <a:r>
              <a:rPr sz="2000">
                <a:solidFill>
                  <a:srgbClr val="262626"/>
                </a:solidFill>
              </a:rPr>
              <a:t>Espaço de ar no interior da sala</a:t>
            </a:r>
          </a:p>
          <a:p>
            <a:pPr/>
            <a:r>
              <a:rPr sz="2200">
                <a:solidFill>
                  <a:srgbClr val="262626"/>
                </a:solidFill>
              </a:rPr>
              <a:t>Fórmula: V = Ab · 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Exemplo Resolvido 4: Embalagem Tetra 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Dados da Embalagem: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Uma embalagem de suco tem o formato de prisma reto de base quadrada com 7 cm de aresta e 20 cm de altura.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a) Qual é o volume em mL?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b) Quantos cm² de papelão são gastos na embalagem?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2800">
                <a:solidFill>
                  <a:srgbClr val="262626"/>
                </a:solidFill>
              </a:rPr>
              <a:t>Resolução Integrada: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a) Volume (Capacidade):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Ab = 7 × 7 = 49 cm²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V = 49 × 20 = 980 cm³ = 980 mL (~1 Litro)</a:t>
            </a:r>
          </a:p>
          <a:p>
            <a:pPr lvl="1"/>
            <a:r>
              <a:rPr sz="2600">
                <a:solidFill>
                  <a:srgbClr val="262626"/>
                </a:solidFill>
              </a:rPr>
              <a:t>b) Área Total (Material):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Al = (4 × 7) × 20 = 28 × 20 = 560 cm²</a:t>
            </a:r>
          </a:p>
          <a:p>
            <a:pPr lvl="2"/>
            <a:r>
              <a:rPr sz="2400">
                <a:solidFill>
                  <a:srgbClr val="262626"/>
                </a:solidFill>
              </a:rPr>
              <a:t>At = 560 + 2 × (49) = 658 cm²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Atividade 5 • A Tenda de Camping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74519"/>
            <a:ext cx="10515600" cy="1463040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l"/>
            <a:r>
              <a:rPr sz="2200" b="1">
                <a:solidFill>
                  <a:srgbClr val="0E4194"/>
                </a:solidFill>
              </a:rPr>
              <a:t>Uma tenda tem a forma de um prisma triangular reto com 3,0 m de comprimento. A frente da tenda é um triângulo isósceles com base de 2,0 m e altura de 1,5 m. Calcule o volume de ar no interior da tenda.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74519"/>
            <a:ext cx="109728" cy="1463040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5156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solidFill>
                  <a:srgbClr val="262626"/>
                </a:solidFill>
              </a:rPr>
              <a:t>•  Passo 1: Identifique a base do prisma (triângulo com base b = 2,0 m e altura h_tri = 1,5 m)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2: Calcule a área da base triangular (Ab = b · h_tri / 2)</a:t>
            </a:r>
          </a:p>
          <a:p>
            <a:pPr/>
            <a:r>
              <a:rPr sz="2400">
                <a:solidFill>
                  <a:srgbClr val="262626"/>
                </a:solidFill>
              </a:rPr>
              <a:t>•  Passo 3: Multiplique pela extensão da tenda (altura do prisma h = 3,0 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Quadro Resumo de Fórmulas dos Prismas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74519"/>
          <a:ext cx="105155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097"/>
                <a:gridCol w="2013625"/>
                <a:gridCol w="2013625"/>
                <a:gridCol w="2237361"/>
                <a:gridCol w="1789889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Tipo de Prisma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Área da Base (Ab)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Área Lateral (Al)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Área Total (At)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Volume (V)</a:t>
                      </a:r>
                    </a:p>
                  </a:txBody>
                  <a:tcPr anchor="ctr">
                    <a:solidFill>
                      <a:srgbClr val="0E41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Reto Geral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Área do polígono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2p_base ×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Al + 2·Ab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Ab ×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Paralelepípedo (a,b,c)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 · b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2(ac + bc)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2(ab + ac + bc)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 · b · c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Cubo (aresta 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4a²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6a²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Prisma Triangular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(b · h_tri) / 2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(L1+L2+L3) × 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Al + 2·Ab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Ab × 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Parabéns!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2200">
                <a:solidFill>
                  <a:srgbClr val="575656"/>
                </a:solidFill>
              </a:rPr>
              <a:t>Unidade Curricular: Matemática • Prismas: Área e Volume concluído!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639312"/>
            <a:ext cx="1371600" cy="54864"/>
          </a:xfrm>
          <a:prstGeom prst="rect">
            <a:avLst/>
          </a:prstGeom>
          <a:solidFill>
            <a:srgbClr val="E84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ENAI">
      <a:dk1>
        <a:sysClr val="windowText" lastClr="000000"/>
      </a:dk1>
      <a:lt1>
        <a:sysClr val="window" lastClr="FFFFFF"/>
      </a:lt1>
      <a:dk2>
        <a:srgbClr val="0E4194"/>
      </a:dk2>
      <a:lt2>
        <a:srgbClr val="E8EEF7"/>
      </a:lt2>
      <a:accent1>
        <a:srgbClr val="0E4194"/>
      </a:accent1>
      <a:accent2>
        <a:srgbClr val="E8490F"/>
      </a:accent2>
      <a:accent3>
        <a:srgbClr val="074982"/>
      </a:accent3>
      <a:accent4>
        <a:srgbClr val="4FB3D9"/>
      </a:accent4>
      <a:accent5>
        <a:srgbClr val="575656"/>
      </a:accent5>
      <a:accent6>
        <a:srgbClr val="2E8B57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UJEVERSON TAVARES SAMPAIO</dc:creator>
  <cp:lastModifiedBy>Ujeverson Tavares Sampaio</cp:lastModifiedBy>
  <cp:revision>2</cp:revision>
  <dcterms:created xsi:type="dcterms:W3CDTF">2025-02-03T00:31:06Z</dcterms:created>
  <dcterms:modified xsi:type="dcterms:W3CDTF">2026-03-18T01:15:36Z</dcterms:modified>
</cp:coreProperties>
</file>