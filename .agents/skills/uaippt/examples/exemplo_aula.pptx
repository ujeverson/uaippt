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6" r:id="rId3"/>
    <p:sldId id="257" r:id="rId2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4660"/>
  </p:normalViewPr>
  <p:slideViewPr>
    <p:cSldViewPr snapToGrid="0">
      <p:cViewPr varScale="1">
        <p:scale>
          <a:sx n="75" d="100"/>
          <a:sy n="75" d="100"/>
        </p:scale>
        <p:origin x="811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2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9" Type="http://schemas.microsoft.com/office/2016/11/relationships/changesInfo" Target="changesInfos/changesInfo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UJEVERSON TAVARES SAMPAIO" userId="3b1645ea-e25f-4285-894d-99db616a2821" providerId="ADAL" clId="{F03AF8CC-B26F-4517-811D-F778B3C210A9}"/>
    <pc:docChg chg="delSld delMainMaster">
      <pc:chgData name="UJEVERSON TAVARES SAMPAIO" userId="3b1645ea-e25f-4285-894d-99db616a2821" providerId="ADAL" clId="{F03AF8CC-B26F-4517-811D-F778B3C210A9}" dt="2026-03-18T01:15:34.722" v="0" actId="47"/>
      <pc:docMkLst>
        <pc:docMk/>
      </pc:docMkLst>
      <pc:sldChg chg="del">
        <pc:chgData name="UJEVERSON TAVARES SAMPAIO" userId="3b1645ea-e25f-4285-894d-99db616a2821" providerId="ADAL" clId="{F03AF8CC-B26F-4517-811D-F778B3C210A9}" dt="2026-03-18T01:15:34.722" v="0" actId="47"/>
        <pc:sldMkLst>
          <pc:docMk/>
          <pc:sldMk cId="157904225" sldId="282"/>
        </pc:sldMkLst>
      </pc:sldChg>
      <pc:sldMasterChg chg="del delSldLayout">
        <pc:chgData name="UJEVERSON TAVARES SAMPAIO" userId="3b1645ea-e25f-4285-894d-99db616a2821" providerId="ADAL" clId="{F03AF8CC-B26F-4517-811D-F778B3C210A9}" dt="2026-03-18T01:15:34.722" v="0" actId="47"/>
        <pc:sldMasterMkLst>
          <pc:docMk/>
          <pc:sldMasterMk cId="1636021913" sldId="2147483660"/>
        </pc:sldMasterMkLst>
        <pc:sldLayoutChg chg="del">
          <pc:chgData name="UJEVERSON TAVARES SAMPAIO" userId="3b1645ea-e25f-4285-894d-99db616a2821" providerId="ADAL" clId="{F03AF8CC-B26F-4517-811D-F778B3C210A9}" dt="2026-03-18T01:15:34.722" v="0" actId="47"/>
          <pc:sldLayoutMkLst>
            <pc:docMk/>
            <pc:sldMasterMk cId="1636021913" sldId="2147483660"/>
            <pc:sldLayoutMk cId="1000502286" sldId="2147483661"/>
          </pc:sldLayoutMkLst>
        </pc:sldLayoutChg>
        <pc:sldLayoutChg chg="del">
          <pc:chgData name="UJEVERSON TAVARES SAMPAIO" userId="3b1645ea-e25f-4285-894d-99db616a2821" providerId="ADAL" clId="{F03AF8CC-B26F-4517-811D-F778B3C210A9}" dt="2026-03-18T01:15:34.722" v="0" actId="47"/>
          <pc:sldLayoutMkLst>
            <pc:docMk/>
            <pc:sldMasterMk cId="1636021913" sldId="2147483660"/>
            <pc:sldLayoutMk cId="2513741728" sldId="2147483662"/>
          </pc:sldLayoutMkLst>
        </pc:sldLayoutChg>
        <pc:sldLayoutChg chg="del">
          <pc:chgData name="UJEVERSON TAVARES SAMPAIO" userId="3b1645ea-e25f-4285-894d-99db616a2821" providerId="ADAL" clId="{F03AF8CC-B26F-4517-811D-F778B3C210A9}" dt="2026-03-18T01:15:34.722" v="0" actId="47"/>
          <pc:sldLayoutMkLst>
            <pc:docMk/>
            <pc:sldMasterMk cId="1636021913" sldId="2147483660"/>
            <pc:sldLayoutMk cId="3792218062" sldId="2147483663"/>
          </pc:sldLayoutMkLst>
        </pc:sldLayoutChg>
        <pc:sldLayoutChg chg="del">
          <pc:chgData name="UJEVERSON TAVARES SAMPAIO" userId="3b1645ea-e25f-4285-894d-99db616a2821" providerId="ADAL" clId="{F03AF8CC-B26F-4517-811D-F778B3C210A9}" dt="2026-03-18T01:15:34.722" v="0" actId="47"/>
          <pc:sldLayoutMkLst>
            <pc:docMk/>
            <pc:sldMasterMk cId="1636021913" sldId="2147483660"/>
            <pc:sldLayoutMk cId="1010253605" sldId="2147483664"/>
          </pc:sldLayoutMkLst>
        </pc:sldLayoutChg>
        <pc:sldLayoutChg chg="del">
          <pc:chgData name="UJEVERSON TAVARES SAMPAIO" userId="3b1645ea-e25f-4285-894d-99db616a2821" providerId="ADAL" clId="{F03AF8CC-B26F-4517-811D-F778B3C210A9}" dt="2026-03-18T01:15:34.722" v="0" actId="47"/>
          <pc:sldLayoutMkLst>
            <pc:docMk/>
            <pc:sldMasterMk cId="1636021913" sldId="2147483660"/>
            <pc:sldLayoutMk cId="3331785395" sldId="2147483665"/>
          </pc:sldLayoutMkLst>
        </pc:sldLayoutChg>
        <pc:sldLayoutChg chg="del">
          <pc:chgData name="UJEVERSON TAVARES SAMPAIO" userId="3b1645ea-e25f-4285-894d-99db616a2821" providerId="ADAL" clId="{F03AF8CC-B26F-4517-811D-F778B3C210A9}" dt="2026-03-18T01:15:34.722" v="0" actId="47"/>
          <pc:sldLayoutMkLst>
            <pc:docMk/>
            <pc:sldMasterMk cId="1636021913" sldId="2147483660"/>
            <pc:sldLayoutMk cId="306571189" sldId="2147483666"/>
          </pc:sldLayoutMkLst>
        </pc:sldLayoutChg>
      </pc:sldMaster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FFB8503-02FD-4ED4-B302-8B56F38888EE}" type="datetimeFigureOut">
              <a:rPr lang="pt-BR" smtClean="0"/>
              <a:t>17/03/2026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BC9890-F0CD-4BE5-B860-658134756E4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960555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Apresentar-se, combinar regras da turma e mostrar o plano da disciplina.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E2D5BF-9160-4B29-8DB3-0B5FE251C1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7048" y="1325880"/>
            <a:ext cx="9144000" cy="224028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2ADABB6-94C1-AEDC-B294-3F78F2AB41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7048" y="3794760"/>
            <a:ext cx="9144000" cy="1371600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B676B15-6576-6FD7-0C2E-54CE9DB428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54D88C-6ABD-4C5E-AB83-2C4E1D6885DD}" type="datetimeFigureOut">
              <a:rPr lang="pt-BR" smtClean="0"/>
              <a:t>17/03/2026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33C9C94-F658-6E14-6F89-89AC2A318A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6502386-E531-B290-EC44-53EAB83BD6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E5E67-C5D6-48C5-8540-6770CF63DB2A}" type="slidenum">
              <a:rPr lang="pt-BR" smtClean="0"/>
              <a:t>‹nº›</a:t>
            </a:fld>
            <a:endParaRPr lang="pt-BR"/>
          </a:p>
        </p:txBody>
      </p:sp>
      <p:pic>
        <p:nvPicPr>
          <p:cNvPr id="99" name="Rodape Fatesg">
            <a:extLst>
              <a:ext uri="{FF2B5EF4-FFF2-40B4-BE49-F238E27FC236}">
                <a16:creationId xmlns:a16="http://schemas.microsoft.com/office/drawing/2014/main" id="{3458AEEF-128F-E37F-18D7-5EF474421F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6242" y="6238875"/>
            <a:ext cx="7459515" cy="619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23707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3CA4E1-6F7D-5D34-151D-C01D99BD78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960120"/>
            <a:ext cx="10515600" cy="822960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51FD3BE-B227-8FCB-53F3-59916EAFD5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248" y="1874519"/>
            <a:ext cx="10515600" cy="434340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682476D-13B0-ADE6-1737-0A373E7425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54D88C-6ABD-4C5E-AB83-2C4E1D6885DD}" type="datetimeFigureOut">
              <a:rPr lang="pt-BR" smtClean="0"/>
              <a:t>17/03/2026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23D8AFE-59BE-757B-E1B4-DB5F578741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503C832-5218-EFDA-E274-FDCA0700A7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E5E67-C5D6-48C5-8540-6770CF63DB2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613618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A85DAE-0295-79AD-9370-801140150D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196BD4B-C941-485C-0969-6E6E90B562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4269AAB-F1F7-7F63-C426-7375E0117E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54D88C-6ABD-4C5E-AB83-2C4E1D6885DD}" type="datetimeFigureOut">
              <a:rPr lang="pt-BR" smtClean="0"/>
              <a:t>17/03/2026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C0E85C4-254D-0AAA-2BF1-2092BAF539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AFA0837-EA37-21A8-5C2C-58FA398A8F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E5E67-C5D6-48C5-8540-6770CF63DB2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500606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8676F2-AB22-42D8-EE1C-4855BC64FA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960120"/>
            <a:ext cx="10515600" cy="822960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DC1EF80-2C8A-1BEE-A358-10BC569B03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41248" y="1874519"/>
            <a:ext cx="5184648" cy="434340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08A7378-FE0B-9AE2-F1DA-739FDC7CC9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74519"/>
            <a:ext cx="5184648" cy="434340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B856DA3-B64F-89E2-5B8D-FFED01F5B0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54D88C-6ABD-4C5E-AB83-2C4E1D6885DD}" type="datetimeFigureOut">
              <a:rPr lang="pt-BR" smtClean="0"/>
              <a:t>17/03/2026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C8BB335-7FB9-CF5D-EA5E-08DDC1660E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5AC272B-0A5C-4D26-F847-A111078B8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E5E67-C5D6-48C5-8540-6770CF63DB2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600742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4AF056-9C67-B67A-7EDD-57DF1C058B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960120"/>
            <a:ext cx="10515600" cy="822960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384E919-F693-E23B-08D8-06FBE66856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1248" y="1874519"/>
            <a:ext cx="5157216" cy="54864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71569BE-32B6-2F72-6D61-2559E7D3C9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41248" y="2468880"/>
            <a:ext cx="5157216" cy="3749039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45460181-19DB-FA49-9398-EE9915D90B4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874519"/>
            <a:ext cx="5184648" cy="54864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B3369D61-69CA-2F18-9DFD-399B5F1BE95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468880"/>
            <a:ext cx="5184648" cy="3749039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E78BA526-387D-1CD1-3324-11A6546036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54D88C-6ABD-4C5E-AB83-2C4E1D6885DD}" type="datetimeFigureOut">
              <a:rPr lang="pt-BR" smtClean="0"/>
              <a:t>17/03/2026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48EE9128-B089-0D3F-3E76-6986DA7145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AE707327-E3D5-B47B-94CE-075603CFA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E5E67-C5D6-48C5-8540-6770CF63DB2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76337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74FB74-920B-A751-F3A7-B0A25A1D4D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960120"/>
            <a:ext cx="10515600" cy="822960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4A0589D6-1C4E-F5F3-42FA-D1C286E672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54D88C-6ABD-4C5E-AB83-2C4E1D6885DD}" type="datetimeFigureOut">
              <a:rPr lang="pt-BR" smtClean="0"/>
              <a:t>17/03/2026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3F4A6C51-C45E-CE3F-073A-CCAAABC94A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CB4B2605-765C-CB1F-B907-2578814419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E5E67-C5D6-48C5-8540-6770CF63DB2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735391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3028A5E3-A863-F93D-F46E-D7DA99185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54D88C-6ABD-4C5E-AB83-2C4E1D6885DD}" type="datetimeFigureOut">
              <a:rPr lang="pt-BR" smtClean="0"/>
              <a:t>17/03/2026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A7E0909A-2D89-49CE-16B7-FDEF5965F4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239404D-35AE-A783-7ECA-B50019C680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E5E67-C5D6-48C5-8540-6770CF63DB2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176016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550941-EEAF-F623-A341-B4101B7955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1051560"/>
            <a:ext cx="3931920" cy="109728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6445C44-735A-BE4B-3D6D-2108A53583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4648" y="1051560"/>
            <a:ext cx="6172200" cy="51663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C3E95D5-4AE6-3DB1-93A5-4B4DFECFB2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41248" y="2240280"/>
            <a:ext cx="3931920" cy="3977639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D030DB8-CB8D-95E5-B3EE-9ACAD8C8C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54D88C-6ABD-4C5E-AB83-2C4E1D6885DD}" type="datetimeFigureOut">
              <a:rPr lang="pt-BR" smtClean="0"/>
              <a:t>17/03/2026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6D1B804-5C55-A72D-94E1-80FBD9328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54597DC-EE0D-DDCA-859D-2D50A3900A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E5E67-C5D6-48C5-8540-6770CF63DB2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801675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A8593B-92C6-AAB2-086C-E906F2780E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1051560"/>
            <a:ext cx="3931920" cy="109728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752FC6D9-BBA7-734B-5A70-8F23A58075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4648" y="1051560"/>
            <a:ext cx="6172200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B0966C0-8E89-0024-21A1-4251E2772A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41248" y="2240280"/>
            <a:ext cx="3931920" cy="3977639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45B1467-26E9-01B2-ED7F-E57AEA7EF9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54D88C-6ABD-4C5E-AB83-2C4E1D6885DD}" type="datetimeFigureOut">
              <a:rPr lang="pt-BR" smtClean="0"/>
              <a:t>17/03/2026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0DB0FE0-8C8C-88D7-AC80-FC1E958E0B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E2DC404-A6F9-FEE7-948F-27AFD8F60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E5E67-C5D6-48C5-8540-6770CF63DB2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163238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67063B-1EAF-45E4-5941-A9AB633B65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960120"/>
            <a:ext cx="10515600" cy="822960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B5C9B21-7BEA-42AD-AB55-BA3FBCA2D2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41248" y="1874519"/>
            <a:ext cx="10515600" cy="4343400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5055012-84D0-2070-77EB-EACB66F5F1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54D88C-6ABD-4C5E-AB83-2C4E1D6885DD}" type="datetimeFigureOut">
              <a:rPr lang="pt-BR" smtClean="0"/>
              <a:t>17/03/2026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3A2D62E-08D4-4966-B6AD-FE0B2BC295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4BF4A9B-D3C4-477E-8A30-86EB84896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E5E67-C5D6-48C5-8540-6770CF63DB2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503299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E03367F-ECC8-2958-DB6D-29217CFD2D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3376" y="1005840"/>
            <a:ext cx="2633472" cy="5212080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968C8D60-2756-5E8D-4EF0-BFFA20961E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41248" y="1005840"/>
            <a:ext cx="7735824" cy="5212080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24BF400-A14F-B8DC-78D0-DF6A96A03D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54D88C-6ABD-4C5E-AB83-2C4E1D6885DD}" type="datetimeFigureOut">
              <a:rPr lang="pt-BR" smtClean="0"/>
              <a:t>17/03/2026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D616397-0B3E-2911-7340-48A0653FD8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D43D648-336E-5E66-B89C-B72B05D2C6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E5E67-C5D6-48C5-8540-6770CF63DB2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8220122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5000" t="2000" r="4000" b="8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B78E0650-771E-1E54-E445-9F337D637F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960120"/>
            <a:ext cx="10515600" cy="8229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54F0239-AA49-F6D2-DD7A-0DD7B61E2C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1248" y="1874519"/>
            <a:ext cx="10515600" cy="4343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376FBC9-8923-C3D7-9404-773C4D030D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454D88C-6ABD-4C5E-AB83-2C4E1D6885DD}" type="datetimeFigureOut">
              <a:rPr lang="pt-BR" smtClean="0"/>
              <a:t>17/03/2026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8A1A09C-72E7-EE24-AB15-66958ACF291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51E71A1-FE19-C152-AF28-2A4F2FE6A2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A4E5E67-C5D6-48C5-8540-6770CF63DB2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386589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/>
              <a:t>Introdução à Programação em Python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/>
          <a:lstStyle/>
          <a:p>
            <a:pPr/>
            <a:r>
              <a:rPr sz="2400">
                <a:solidFill>
                  <a:srgbClr val="575656"/>
                </a:solidFill>
              </a:rPr>
              <a:t>Aula 1 — Variáveis e Tipos de Dados | Prof. Nome Sobrenome |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5413248" y="3639312"/>
            <a:ext cx="1371600" cy="54864"/>
          </a:xfrm>
          <a:prstGeom prst="rect">
            <a:avLst/>
          </a:prstGeom>
          <a:solidFill>
            <a:srgbClr val="E849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Objetivos da aula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sz="2800">
                <a:solidFill>
                  <a:srgbClr val="262626"/>
                </a:solidFill>
              </a:rPr>
              <a:t>Compreender o que é uma variável</a:t>
            </a:r>
          </a:p>
          <a:p>
            <a:pPr lvl="1"/>
            <a:r>
              <a:rPr sz="2600">
                <a:solidFill>
                  <a:srgbClr val="262626"/>
                </a:solidFill>
              </a:rPr>
              <a:t>Nome, valor e tipo</a:t>
            </a:r>
          </a:p>
          <a:p>
            <a:pPr lvl="1"/>
            <a:r>
              <a:rPr sz="2600">
                <a:solidFill>
                  <a:srgbClr val="262626"/>
                </a:solidFill>
              </a:rPr>
              <a:t>Atribuição com o operador =</a:t>
            </a:r>
          </a:p>
          <a:p>
            <a:pPr/>
            <a:r>
              <a:rPr sz="2800">
                <a:solidFill>
                  <a:srgbClr val="262626"/>
                </a:solidFill>
              </a:rPr>
              <a:t>Conhecer os tipos básicos do Python</a:t>
            </a:r>
          </a:p>
          <a:p>
            <a:pPr lvl="1"/>
            <a:r>
              <a:rPr sz="2600">
                <a:solidFill>
                  <a:srgbClr val="262626"/>
                </a:solidFill>
              </a:rPr>
              <a:t>int, float, str e bool</a:t>
            </a:r>
          </a:p>
          <a:p>
            <a:pPr/>
            <a:r>
              <a:rPr sz="2800">
                <a:solidFill>
                  <a:srgbClr val="262626"/>
                </a:solidFill>
              </a:rPr>
              <a:t>Ler e exibir dados com input() e print()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800"/>
              <a:t>Variáveis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rPr sz="2200">
                <a:solidFill>
                  <a:srgbClr val="575656"/>
                </a:solidFill>
              </a:rPr>
              <a:t>Guardando informações na memória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4526280"/>
            <a:ext cx="1371600" cy="54864"/>
          </a:xfrm>
          <a:prstGeom prst="rect">
            <a:avLst/>
          </a:prstGeom>
          <a:solidFill>
            <a:srgbClr val="E849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Conceito-chave</a:t>
            </a:r>
          </a:p>
        </p:txBody>
      </p:sp>
      <p:sp>
        <p:nvSpPr>
          <p:cNvPr id="3" name="Rectangle 2"/>
          <p:cNvSpPr/>
          <p:nvPr/>
        </p:nvSpPr>
        <p:spPr>
          <a:xfrm>
            <a:off x="841248" y="1874519"/>
            <a:ext cx="10515600" cy="1463040"/>
          </a:xfrm>
          <a:prstGeom prst="rect">
            <a:avLst/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/>
          <a:lstStyle/>
          <a:p>
            <a:pPr algn="l"/>
            <a:r>
              <a:rPr sz="3200" b="1">
                <a:solidFill>
                  <a:srgbClr val="0E4194"/>
                </a:solidFill>
              </a:rPr>
              <a:t>Uma variável é um nome que aponta para um valor armazenado na memória.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874519"/>
            <a:ext cx="109728" cy="1463040"/>
          </a:xfrm>
          <a:prstGeom prst="rect">
            <a:avLst/>
          </a:prstGeom>
          <a:solidFill>
            <a:srgbClr val="E849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3520440"/>
            <a:ext cx="10515600" cy="2697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400">
                <a:solidFill>
                  <a:srgbClr val="262626"/>
                </a:solidFill>
              </a:rPr>
              <a:t>•  O tipo é definido pelo valor, não pela declaração</a:t>
            </a:r>
          </a:p>
          <a:p>
            <a:pPr/>
            <a:r>
              <a:rPr sz="2400">
                <a:solidFill>
                  <a:srgbClr val="262626"/>
                </a:solidFill>
              </a:rPr>
              <a:t>•  Nomes devem ser descritivos: idade, preco_total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Exemplo: declarando variáveis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41248" y="1874519"/>
            <a:ext cx="10515600" cy="2590800"/>
          </a:xfrm>
          <a:prstGeom prst="roundRect">
            <a:avLst>
              <a:gd name="adj" fmla="val 3000"/>
            </a:avLst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74320" rIns="274320" tIns="182880"/>
          <a:lstStyle/>
          <a:p>
            <a:pPr algn="l">
              <a:lnSpc>
                <a:spcPct val="100000"/>
              </a:lnSpc>
            </a:pPr>
            <a:r>
              <a:rPr sz="2000">
                <a:solidFill>
                  <a:srgbClr val="E6E6E6"/>
                </a:solidFill>
                <a:latin typeface="Consolas"/>
              </a:rPr>
              <a:t>nome = "Maria"        # str</a:t>
            </a:r>
          </a:p>
          <a:p>
            <a:pPr algn="l">
              <a:lnSpc>
                <a:spcPct val="100000"/>
              </a:lnSpc>
            </a:pPr>
            <a:r>
              <a:rPr sz="2000">
                <a:solidFill>
                  <a:srgbClr val="E6E6E6"/>
                </a:solidFill>
                <a:latin typeface="Consolas"/>
              </a:rPr>
              <a:t>idade = 19            # int</a:t>
            </a:r>
          </a:p>
          <a:p>
            <a:pPr algn="l">
              <a:lnSpc>
                <a:spcPct val="100000"/>
              </a:lnSpc>
            </a:pPr>
            <a:r>
              <a:rPr sz="2000">
                <a:solidFill>
                  <a:srgbClr val="E6E6E6"/>
                </a:solidFill>
                <a:latin typeface="Consolas"/>
              </a:rPr>
              <a:t>altura = 1.68         # float</a:t>
            </a:r>
          </a:p>
          <a:p>
            <a:pPr algn="l">
              <a:lnSpc>
                <a:spcPct val="100000"/>
              </a:lnSpc>
            </a:pPr>
            <a:r>
              <a:rPr sz="2000">
                <a:solidFill>
                  <a:srgbClr val="E6E6E6"/>
                </a:solidFill>
                <a:latin typeface="Consolas"/>
              </a:rPr>
              <a:t>matriculada = True    # bool</a:t>
            </a:r>
          </a:p>
          <a:p>
            <a:pPr algn="l">
              <a:lnSpc>
                <a:spcPct val="100000"/>
              </a:lnSpc>
            </a:pPr>
            <a:r>
              <a:rPr sz="20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2000">
                <a:solidFill>
                  <a:srgbClr val="E6E6E6"/>
                </a:solidFill>
                <a:latin typeface="Consolas"/>
              </a:rPr>
              <a:t>print(f"{nome} tem {idade} anos")</a:t>
            </a:r>
          </a:p>
          <a:p>
            <a:pPr algn="l">
              <a:lnSpc>
                <a:spcPct val="100000"/>
              </a:lnSpc>
            </a:pPr>
            <a:r>
              <a:rPr sz="2000">
                <a:solidFill>
                  <a:srgbClr val="E6E6E6"/>
                </a:solidFill>
                <a:latin typeface="Consolas"/>
              </a:rPr>
              <a:t>print(type(altura))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2011679"/>
            <a:ext cx="64008" cy="2316480"/>
          </a:xfrm>
          <a:prstGeom prst="rect">
            <a:avLst/>
          </a:prstGeom>
          <a:solidFill>
            <a:srgbClr val="E849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4511039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>
                <a:solidFill>
                  <a:srgbClr val="575656"/>
                </a:solidFill>
              </a:rPr>
              <a:t>Execute no Google Colab e observe a saída de type().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Tipos primitivos do Python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841248" y="1874519"/>
          <a:ext cx="10515599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03714"/>
                <a:gridCol w="3004457"/>
                <a:gridCol w="5007428"/>
              </a:tblGrid>
              <a:tr h="54864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Tipo</a:t>
                      </a:r>
                    </a:p>
                  </a:txBody>
                  <a:tcPr anchor="ctr">
                    <a:solidFill>
                      <a:srgbClr val="0E419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Exemplo</a:t>
                      </a:r>
                    </a:p>
                  </a:txBody>
                  <a:tcPr anchor="ctr">
                    <a:solidFill>
                      <a:srgbClr val="0E419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Uso típico</a:t>
                      </a:r>
                    </a:p>
                  </a:txBody>
                  <a:tcPr anchor="ctr">
                    <a:solidFill>
                      <a:srgbClr val="0E419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2626"/>
                          </a:solidFill>
                        </a:rPr>
                        <a:t>int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2626"/>
                          </a:solidFill>
                        </a:rPr>
                        <a:t>42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2626"/>
                          </a:solidFill>
                        </a:rPr>
                        <a:t>Contagens, idades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2626"/>
                          </a:solidFill>
                        </a:rPr>
                        <a:t>float</a:t>
                      </a:r>
                    </a:p>
                  </a:txBody>
                  <a:tcPr anchor="ctr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2626"/>
                          </a:solidFill>
                        </a:rPr>
                        <a:t>3.14</a:t>
                      </a:r>
                    </a:p>
                  </a:txBody>
                  <a:tcPr anchor="ctr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2626"/>
                          </a:solidFill>
                        </a:rPr>
                        <a:t>Medidas, valores monetários</a:t>
                      </a:r>
                    </a:p>
                  </a:txBody>
                  <a:tcPr anchor="ctr">
                    <a:solidFill>
                      <a:srgbClr val="E8EEF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2626"/>
                          </a:solidFill>
                        </a:rPr>
                        <a:t>str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2626"/>
                          </a:solidFill>
                        </a:rPr>
                        <a:t>"SENAI"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2626"/>
                          </a:solidFill>
                        </a:rPr>
                        <a:t>Textos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2626"/>
                          </a:solidFill>
                        </a:rPr>
                        <a:t>bool</a:t>
                      </a:r>
                    </a:p>
                  </a:txBody>
                  <a:tcPr anchor="ctr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2626"/>
                          </a:solidFill>
                        </a:rPr>
                        <a:t>True / False</a:t>
                      </a:r>
                    </a:p>
                  </a:txBody>
                  <a:tcPr anchor="ctr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2626"/>
                          </a:solidFill>
                        </a:rPr>
                        <a:t>Condições</a:t>
                      </a:r>
                    </a:p>
                  </a:txBody>
                  <a:tcPr anchor="ctr">
                    <a:solidFill>
                      <a:srgbClr val="E8EE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Boas e más práticas de nomes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rPr sz="2200" b="1">
                <a:solidFill>
                  <a:srgbClr val="0E4194"/>
                </a:solidFill>
              </a:rPr>
              <a:t>Recomendado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 wrap="square"/>
          <a:lstStyle/>
          <a:p>
            <a:pPr/>
            <a:r>
              <a:rPr sz="2800">
                <a:solidFill>
                  <a:srgbClr val="262626"/>
                </a:solidFill>
              </a:rPr>
              <a:t>idade_aluno</a:t>
            </a:r>
          </a:p>
          <a:p>
            <a:pPr/>
            <a:r>
              <a:rPr sz="2800">
                <a:solidFill>
                  <a:srgbClr val="262626"/>
                </a:solidFill>
              </a:rPr>
              <a:t>preco_total</a:t>
            </a:r>
          </a:p>
          <a:p>
            <a:pPr/>
            <a:r>
              <a:rPr sz="2800">
                <a:solidFill>
                  <a:srgbClr val="262626"/>
                </a:solidFill>
              </a:rPr>
              <a:t>nome_completo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" sz="quarter"/>
          </p:nvPr>
        </p:nvSpPr>
        <p:spPr/>
        <p:txBody>
          <a:bodyPr wrap="square"/>
          <a:lstStyle/>
          <a:p>
            <a:pPr/>
            <a:r>
              <a:rPr sz="2200" b="1">
                <a:solidFill>
                  <a:srgbClr val="0E4194"/>
                </a:solidFill>
              </a:rPr>
              <a:t>Evitar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4" sz="quarter"/>
          </p:nvPr>
        </p:nvSpPr>
        <p:spPr/>
        <p:txBody>
          <a:bodyPr wrap="square"/>
          <a:lstStyle/>
          <a:p>
            <a:pPr/>
            <a:r>
              <a:rPr sz="2800">
                <a:solidFill>
                  <a:srgbClr val="262626"/>
                </a:solidFill>
              </a:rPr>
              <a:t>x, y, a1</a:t>
            </a:r>
          </a:p>
          <a:p>
            <a:pPr/>
            <a:r>
              <a:rPr sz="2800">
                <a:solidFill>
                  <a:srgbClr val="262626"/>
                </a:solidFill>
              </a:rPr>
              <a:t>Idade Aluno (com espaço)</a:t>
            </a:r>
          </a:p>
          <a:p>
            <a:pPr/>
            <a:r>
              <a:rPr sz="2800">
                <a:solidFill>
                  <a:srgbClr val="262626"/>
                </a:solidFill>
              </a:rPr>
              <a:t>2nome (começa com número)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input() x print()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 wrap="square"/>
          <a:lstStyle/>
          <a:p>
            <a:pPr/>
            <a:r>
              <a:rPr sz="2800">
                <a:solidFill>
                  <a:srgbClr val="262626"/>
                </a:solidFill>
              </a:rPr>
              <a:t>input()</a:t>
            </a:r>
          </a:p>
          <a:p>
            <a:pPr lvl="1"/>
            <a:r>
              <a:rPr sz="2600">
                <a:solidFill>
                  <a:srgbClr val="262626"/>
                </a:solidFill>
              </a:rPr>
              <a:t>Lê texto digitado pelo usuário</a:t>
            </a:r>
          </a:p>
          <a:p>
            <a:pPr lvl="1"/>
            <a:r>
              <a:rPr sz="2600">
                <a:solidFill>
                  <a:srgbClr val="262626"/>
                </a:solidFill>
              </a:rPr>
              <a:t>Sempre retorna str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 wrap="square"/>
          <a:lstStyle/>
          <a:p>
            <a:pPr/>
            <a:r>
              <a:rPr sz="2800">
                <a:solidFill>
                  <a:srgbClr val="262626"/>
                </a:solidFill>
              </a:rPr>
              <a:t>print()</a:t>
            </a:r>
          </a:p>
          <a:p>
            <a:pPr lvl="1"/>
            <a:r>
              <a:rPr sz="2600">
                <a:solidFill>
                  <a:srgbClr val="262626"/>
                </a:solidFill>
              </a:rPr>
              <a:t>Exibe valores na tela</a:t>
            </a:r>
          </a:p>
          <a:p>
            <a:pPr lvl="1"/>
            <a:r>
              <a:rPr sz="2600">
                <a:solidFill>
                  <a:srgbClr val="262626"/>
                </a:solidFill>
              </a:rPr>
              <a:t>Aceita vários argumentos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Marca SENAI</a:t>
            </a:r>
          </a:p>
        </p:txBody>
      </p:sp>
      <p:pic>
        <p:nvPicPr>
          <p:cNvPr id="3" name="Picture 2" descr="logo_sena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2513015"/>
            <a:ext cx="10515600" cy="265492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41248" y="5852159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i="1">
                <a:solidFill>
                  <a:srgbClr val="575656"/>
                </a:solidFill>
              </a:rPr>
              <a:t>Exemplo de imagem ajustada à área de conteúdo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/>
              <a:t>Obrigado!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/>
          <a:lstStyle/>
          <a:p>
            <a:pPr/>
            <a:r>
              <a:rPr sz="2400">
                <a:solidFill>
                  <a:srgbClr val="575656"/>
                </a:solidFill>
              </a:rPr>
              <a:t>Dúvidas? professor@fieg.com.br</a:t>
            </a:r>
          </a:p>
        </p:txBody>
      </p:sp>
      <p:sp>
        <p:nvSpPr>
          <p:cNvPr id="4" name="Rectangle 3"/>
          <p:cNvSpPr/>
          <p:nvPr/>
        </p:nvSpPr>
        <p:spPr>
          <a:xfrm>
            <a:off x="5413248" y="3639312"/>
            <a:ext cx="1371600" cy="54864"/>
          </a:xfrm>
          <a:prstGeom prst="rect">
            <a:avLst/>
          </a:prstGeom>
          <a:solidFill>
            <a:srgbClr val="E849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SENAI">
      <a:dk1>
        <a:sysClr val="windowText" lastClr="000000"/>
      </a:dk1>
      <a:lt1>
        <a:sysClr val="window" lastClr="FFFFFF"/>
      </a:lt1>
      <a:dk2>
        <a:srgbClr val="0E4194"/>
      </a:dk2>
      <a:lt2>
        <a:srgbClr val="E8EEF7"/>
      </a:lt2>
      <a:accent1>
        <a:srgbClr val="0E4194"/>
      </a:accent1>
      <a:accent2>
        <a:srgbClr val="E8490F"/>
      </a:accent2>
      <a:accent3>
        <a:srgbClr val="074982"/>
      </a:accent3>
      <a:accent4>
        <a:srgbClr val="4FB3D9"/>
      </a:accent4>
      <a:accent5>
        <a:srgbClr val="575656"/>
      </a:accent5>
      <a:accent6>
        <a:srgbClr val="2E8B57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Tema do Office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UJEVERSON TAVARES SAMPAIO</dc:creator>
  <cp:lastModifiedBy>Ujeverson Tavares Sampaio</cp:lastModifiedBy>
  <cp:revision>2</cp:revision>
  <dcterms:created xsi:type="dcterms:W3CDTF">2025-02-03T00:31:06Z</dcterms:created>
  <dcterms:modified xsi:type="dcterms:W3CDTF">2026-03-18T01:15:36Z</dcterms:modified>
</cp:coreProperties>
</file>